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Mirëseardhja. Prezantoni veten si këshilltar i karrierës dhe qëllimin: në fund të trajnimit, çdo mësimdhënës del me një aktivitet karriere 10-minutësh të gatshëm për klasën e vet.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Shpjegoni shkurt strukturën. Theksoni se pjesa më e madhe e kohës (30 minuta) është punë praktike: secili del me një aktivitet të gatshëm.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Lëreni secilin të shkruajë 2 minuta. Pyetni 3–4 vetë. Zakonisht del se pak prej nesh patën dikë që i ndihmoi në mënyrë të organizuar, dhe se shpesh ishte një mësimdhënës. Kjo është ura drejt temës: ne jemi ai "dikush" për nxënësit tanë.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Katër arsye. Theksoni të fundit: nuk po kërkojmë orë të reja, por që brenda orës ekzistuese të shtohet një lidhje e shkurtër me botën e punës.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nuk është transferim i punës së këshilltarit te mësimdhënësit. Këshilltari mbetet koordinatori; mësimdhënësi bën lidhjen me lëndën, gjë që askush tjetër nuk mund ta bëjë më mirë.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Çdo klasë ka fokusin e vet; aktivitetet ndërtohen hap pas hapi. Shembujt e aktiviteteve për çdo lëndë janë në materialin B2 dhe B3 që e keni të shtypur.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Demonstroni të paktën dy prej tyre live, p.sh. lidhjen temë–profesion me një temë që e ka dikush në sallë sot. Mënyrat 1 dhe 3 janë më të lehtat për të filluar.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është shembull i mënyrës 1 (lidhja temë–profesion) në formë grupi. Vini re: tema e biologjisë mbetet në qendër; aktiviteti zë vetëm 10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Shembull i mënyrës 4 (detyrë autentike). Shifrat i jep mësimdhënësi sipas nivelit të klasës. Shembulli i tretë, letra e motivimit në gjuhë shqipe, është në materialin B4.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Pyetni sallën: a keni dëgjuar ndonjëherë "kjo nuk është punë për vajza"? Diskutim i shkurtër. Kujtoni se nxënësit i dëgjojnë mesazhet e padashura po aq sa ato të dashurat.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Grupet: gjuhët; matematika dhe shkencat; shkencat shoqërore; artet, sporti dhe TIK. Qarkulloni nëpër grupe. Pas 25 minutash, zgjidhni 3–4 aktivitete për prezantim në galeri (10 minuta).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Theksoni se këshilltari është në dispozicion për ndihmë: materiale, fletë pune, ose ftesa për mysafirë. Fletët e nxënësve ruhen në portofolin e karrierës.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Falënderoni pjesëmarrësit, ndani pyetësorin dhe listën e pjesëmarrjes (A4). Kujtoni afatin e dy javëve.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15721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A5E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46301"/>
            <a:ext cx="10566400" cy="389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A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15721"/>
            <a:ext cx="1056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A5E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46301"/>
            <a:ext cx="10566400" cy="3898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A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Stema e Republikës së Kosovës">    </p:cNvPr>
          <p:cNvPicPr>
            <a:picLocks noChangeAspect="1"/>
          </p:cNvPicPr>
          <p:nvPr/>
        </p:nvPicPr>
        <p:blipFill>
          <a:blip r:embed="rId1"/>
          <a:srcRect l="-143" r="-143" t="0" b="0"/>
          <a:stretch/>
        </p:blipFill>
        <p:spPr>
          <a:xfrm>
            <a:off x="812800" y="609600"/>
            <a:ext cx="742950" cy="762000"/>
          </a:xfrm>
          <a:prstGeom prst="rect">
            <a:avLst/>
          </a:prstGeom>
        </p:spPr>
      </p:pic>
      <p:pic>
        <p:nvPicPr>
          <p:cNvPr id="4" name="Image 1" descr="Stema e Komunës së Kaçanikut">    </p:cNvPr>
          <p:cNvPicPr>
            <a:picLocks noChangeAspect="1"/>
          </p:cNvPicPr>
          <p:nvPr/>
        </p:nvPicPr>
        <p:blipFill>
          <a:blip r:embed="rId2"/>
          <a:srcRect l="-45" r="-45" t="0" b="0"/>
          <a:stretch/>
        </p:blipFill>
        <p:spPr>
          <a:xfrm>
            <a:off x="10775950" y="609600"/>
            <a:ext cx="603250" cy="762000"/>
          </a:xfrm>
          <a:prstGeom prst="rect">
            <a:avLst/>
          </a:prstGeom>
        </p:spPr>
      </p:pic>
      <p:pic>
        <p:nvPicPr>
          <p:cNvPr id="5" name="Image 2" descr="Logoja e SHFMU Emin Duraku">    </p:cNvPr>
          <p:cNvPicPr>
            <a:picLocks noChangeAspect="1"/>
          </p:cNvPicPr>
          <p:nvPr/>
        </p:nvPicPr>
        <p:blipFill>
          <a:blip r:embed="rId3"/>
          <a:srcRect l="-196" r="-196" t="0" b="0"/>
          <a:stretch/>
        </p:blipFill>
        <p:spPr>
          <a:xfrm>
            <a:off x="5619750" y="952500"/>
            <a:ext cx="952500" cy="9525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516886" y="2504440"/>
            <a:ext cx="715822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C9A22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TRAJNIM PËR MËSIMDHËNËSIT E KLASAVE VI – IX</a:t>
            </a:r>
            <a:endParaRPr lang="en-US" sz="1600" dirty="0"/>
          </a:p>
        </p:txBody>
      </p:sp>
      <p:sp>
        <p:nvSpPr>
          <p:cNvPr id="7" name="Text 2"/>
          <p:cNvSpPr/>
          <p:nvPr>
            <p:ph type="title"/>
          </p:nvPr>
        </p:nvSpPr>
        <p:spPr>
          <a:xfrm>
            <a:off x="0" y="2992120"/>
            <a:ext cx="12191921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Karriera në çdo orë mësimi</a:t>
            </a:r>
            <a:endParaRPr lang="en-US" sz="6000" dirty="0"/>
          </a:p>
        </p:txBody>
      </p:sp>
      <p:sp>
        <p:nvSpPr>
          <p:cNvPr id="8" name="Text 3"/>
          <p:cNvSpPr/>
          <p:nvPr/>
        </p:nvSpPr>
        <p:spPr>
          <a:xfrm>
            <a:off x="2265624" y="4033520"/>
            <a:ext cx="766067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 t'i lidhim temat e lëndës me profesionet dhe aftësitë për jetë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54304" y="615188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Komuna e Kaçanikut • Shkurt 2027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120 MINUTA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92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Agjenda e trajnimit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04060"/>
          <a:ext cx="10556240" cy="3068320"/>
        </p:xfrm>
        <a:graphic>
          <a:graphicData uri="http://schemas.openxmlformats.org/drawingml/2006/table">
            <a:tbl>
              <a:tblPr/>
              <a:tblGrid>
                <a:gridCol w="1688998"/>
                <a:gridCol w="6333744"/>
                <a:gridCol w="2533498"/>
              </a:tblGrid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Koha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Aktiviteti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Metoda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A5E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0 – 10'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Mirëseardhja dhe ushtrimi hyrës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Diskutim në rreth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5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 – 30'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Pse edukimi për karrierë? Kush çfarë bën?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Prezantim, diskutim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30 – 50'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Katër modulet sipas klasave VI – IX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Prezantim, pyetje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50 – 60'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Pushim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—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60 – 75'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Pesë mënyra praktike integrimi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Demonstrim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75 – 105'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Harto aktivitetin tënd 10-minutësh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Punë në grupe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DD"/>
                    </a:solidFill>
                  </a:tcPr>
                </a:tc>
              </a:tr>
              <a:tr h="38354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105 – 120'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Prezantimi, hapat e ardhshëm, vlerësimi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436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Galeri, pyetësor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A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44600" y="6238241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0566400" y="6238241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A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770380"/>
            <a:ext cx="104648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150" kern="0" dirty="0">
                <a:solidFill>
                  <a:srgbClr val="142A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USHTRIMI HYRËS • 10 MINUTA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016000" y="2359661"/>
            <a:ext cx="10464800" cy="2128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Çfarë doje të bëheshe kur ishe 14 vjeç — dhe kush të ndihmoi të vendosje?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16000" y="4767580"/>
            <a:ext cx="1046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Shkruajeni në një letër ngjitëse dhe ndajeni me kolegun pranë jush.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PSE?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Karriera i takon çdo lënde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00275"/>
            <a:ext cx="5175250" cy="1714500"/>
          </a:xfrm>
          <a:prstGeom prst="roundRect">
            <a:avLst>
              <a:gd name="adj" fmla="val 4259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6480" y="243078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Vendimi i parë i madh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6480" y="2781300"/>
            <a:ext cx="485566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Në fund të klasës IX nxënësi zgjedh gjimnazin ose shkollën profesionale.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00275"/>
            <a:ext cx="5175250" cy="1714500"/>
          </a:xfrm>
          <a:prstGeom prst="roundRect">
            <a:avLst>
              <a:gd name="adj" fmla="val 4259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1280" y="243078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"Pse po e mësojmë këtë?"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31280" y="2781300"/>
            <a:ext cx="4855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Kur nxënësi sheh ku përdoret njohuria, rritet motivimi.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4124325"/>
            <a:ext cx="5175250" cy="1714500"/>
          </a:xfrm>
          <a:prstGeom prst="roundRect">
            <a:avLst>
              <a:gd name="adj" fmla="val 4259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6480" y="435483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Mësimdhënësi si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6480" y="4705350"/>
            <a:ext cx="4855667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Nxënësit kalojnë shumicën e kohës me ju, jo me këshilltarin.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4124325"/>
            <a:ext cx="5175250" cy="1714500"/>
          </a:xfrm>
          <a:prstGeom prst="roundRect">
            <a:avLst>
              <a:gd name="adj" fmla="val 4259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1280" y="4354830"/>
            <a:ext cx="485566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 orë shtesë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1280" y="4705350"/>
            <a:ext cx="4855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Mjaftojnë 5–10 minuta të lidhura me temën e ditës.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446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ROLET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Kush çfarë bën?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97100"/>
            <a:ext cx="5171440" cy="3644900"/>
          </a:xfrm>
          <a:prstGeom prst="roundRect">
            <a:avLst>
              <a:gd name="adj" fmla="val 2787"/>
            </a:avLst>
          </a:prstGeom>
          <a:solidFill>
            <a:srgbClr val="1F3F8F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01900"/>
            <a:ext cx="46986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Mësimdhënësi i lëndës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989582"/>
            <a:ext cx="461995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Lidh temat e lëndës me profesionet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Zbaton aktivitete të shkurtra në orë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Vëren interesat dhe talentet e nxënësve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Shënon aktivitetet në formularin B6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3790" y="2203450"/>
            <a:ext cx="5179060" cy="3632200"/>
          </a:xfrm>
          <a:prstGeom prst="roundRect">
            <a:avLst>
              <a:gd name="adj" fmla="val 2622"/>
            </a:avLst>
          </a:prstGeom>
          <a:solidFill>
            <a:srgbClr val="FCFBF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2400" y="2512061"/>
            <a:ext cx="4698695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42A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Këshilltari i karrierës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73520" y="2999739"/>
            <a:ext cx="461995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Koordinon programin në shkollë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Ofron materiale dhe fletë pune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Këshillon nxënësit individualisht e në grup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Fton profesionistë, organizon vizita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446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KLASAT VI – IX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Katër modulet sipas klasave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97100"/>
            <a:ext cx="2527300" cy="3644900"/>
          </a:xfrm>
          <a:prstGeom prst="roundRect">
            <a:avLst>
              <a:gd name="adj" fmla="val 4020"/>
            </a:avLst>
          </a:prstGeom>
          <a:solidFill>
            <a:srgbClr val="1F3F8F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425700"/>
            <a:ext cx="2132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KLASA VI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2776221"/>
            <a:ext cx="213220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"Kush jam unë?"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1400" y="3152139"/>
            <a:ext cx="2132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Zbulimi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1400" y="3502661"/>
            <a:ext cx="21322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Tri interesa dhe tri aftësi të veta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92500" y="2197100"/>
            <a:ext cx="2527300" cy="3644900"/>
          </a:xfrm>
          <a:prstGeom prst="roundRect">
            <a:avLst>
              <a:gd name="adj" fmla="val 4020"/>
            </a:avLst>
          </a:prstGeom>
          <a:solidFill>
            <a:srgbClr val="1F3F8F"/>
          </a:solidFill>
          <a:ln/>
        </p:spPr>
      </p:sp>
      <p:sp>
        <p:nvSpPr>
          <p:cNvPr id="10" name="Text 8"/>
          <p:cNvSpPr/>
          <p:nvPr/>
        </p:nvSpPr>
        <p:spPr>
          <a:xfrm>
            <a:off x="3721100" y="2425700"/>
            <a:ext cx="2132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KLASA VII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21100" y="2776221"/>
            <a:ext cx="213220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"Bota e punës"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21100" y="3152139"/>
            <a:ext cx="2132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Eksplorimi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21100" y="3502661"/>
            <a:ext cx="21322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Pesë profesione dhe aftësitë që kërkojnë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2197100"/>
            <a:ext cx="2527300" cy="3644900"/>
          </a:xfrm>
          <a:prstGeom prst="roundRect">
            <a:avLst>
              <a:gd name="adj" fmla="val 4020"/>
            </a:avLst>
          </a:prstGeom>
          <a:solidFill>
            <a:srgbClr val="1F3F8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425700"/>
            <a:ext cx="2132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KLASA VIII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2776221"/>
            <a:ext cx="213220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"Rruga ime"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152139"/>
            <a:ext cx="2132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Orientimi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502661"/>
            <a:ext cx="2132203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Plan i thjeshtë veprimi drejt një profesioni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851900" y="2197100"/>
            <a:ext cx="2527300" cy="3644900"/>
          </a:xfrm>
          <a:prstGeom prst="roundRect">
            <a:avLst>
              <a:gd name="adj" fmla="val 4020"/>
            </a:avLst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9080500" y="2425700"/>
            <a:ext cx="2132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A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KLASA IX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80500" y="2776221"/>
            <a:ext cx="213220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"Hapi tjetër"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080500" y="3152139"/>
            <a:ext cx="21322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A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Vendimmarrja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80500" y="3502661"/>
            <a:ext cx="2132203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Zgjedhja e shkollës së mesme, CV, letra e motivimit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446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NË PRAKTIKË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8872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Pesë mënyra integrimi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786257"/>
            <a:ext cx="10560050" cy="669290"/>
          </a:xfrm>
          <a:prstGeom prst="roundRect">
            <a:avLst>
              <a:gd name="adj" fmla="val 10911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680" y="1960882"/>
            <a:ext cx="3302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52880" y="1987550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Lidhja temë – profesion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889761"/>
            <a:ext cx="378302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"Kush e përdor këtë njohuri në punë?" — 2–3 minuta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48320" y="2005332"/>
            <a:ext cx="31394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Fizikë: ligji i Omit → elektricist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774314"/>
            <a:ext cx="10560050" cy="527050"/>
          </a:xfrm>
          <a:prstGeom prst="roundRect">
            <a:avLst>
              <a:gd name="adj" fmla="val 13855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5680" y="2877821"/>
            <a:ext cx="3302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52880" y="2904489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Profesioni i javës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2922271"/>
            <a:ext cx="37830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Një profesion në javë me fletën B5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48320" y="2922271"/>
            <a:ext cx="31394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Biologji: roja e Parkut "Sharri"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975" y="3620136"/>
            <a:ext cx="10560050" cy="527050"/>
          </a:xfrm>
          <a:prstGeom prst="roundRect">
            <a:avLst>
              <a:gd name="adj" fmla="val 13855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5680" y="3723639"/>
            <a:ext cx="3302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52880" y="3750311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Fleta e daljes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3768089"/>
            <a:ext cx="37830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 minutat e fundit: cilën aftësi përdora sot?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48320" y="3768089"/>
            <a:ext cx="31394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Çdo lëndë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975" y="4465957"/>
            <a:ext cx="10560050" cy="527050"/>
          </a:xfrm>
          <a:prstGeom prst="roundRect">
            <a:avLst>
              <a:gd name="adj" fmla="val 13855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5680" y="4569461"/>
            <a:ext cx="3302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52880" y="4596132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Detyrë autentike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4613911"/>
            <a:ext cx="37830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Problem i vërtetë nga komuniteti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48320" y="4613911"/>
            <a:ext cx="31394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Matematikë: buxheti i një biznesi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5975" y="5311775"/>
            <a:ext cx="10560050" cy="527050"/>
          </a:xfrm>
          <a:prstGeom prst="roundRect">
            <a:avLst>
              <a:gd name="adj" fmla="val 13855"/>
            </a:avLst>
          </a:prstGeom>
          <a:solidFill>
            <a:srgbClr val="FCFBF8"/>
          </a:solidFill>
          <a:ln w="6350">
            <a:solidFill>
              <a:srgbClr val="DDD7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5680" y="5415282"/>
            <a:ext cx="3302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9A22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52880" y="5441950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Mysafir ose vizitë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97680" y="5459732"/>
            <a:ext cx="37830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Prind ose profesionist, 15 minuta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48320" y="5459732"/>
            <a:ext cx="31394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i="1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Kimi: farmacist nga qyteti</a:t>
            </a:r>
            <a:endParaRPr lang="en-US" sz="13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2446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566400" y="6238239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SHEMBULLI 1 • BIOLOGJI • KLASA VIII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"Kush kujdeset për zemrën tonë?"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37082"/>
            <a:ext cx="3937000" cy="3804920"/>
          </a:xfrm>
          <a:prstGeom prst="roundRect">
            <a:avLst>
              <a:gd name="adj" fmla="val 2670"/>
            </a:avLst>
          </a:prstGeom>
          <a:solidFill>
            <a:srgbClr val="1F3F8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91082"/>
            <a:ext cx="35318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649221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Sistemi i qarkullimit të gjakut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3042921"/>
            <a:ext cx="35318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KOHA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3401061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 minutat e fundit të orës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6800" y="3794761"/>
            <a:ext cx="35318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REZULTATI I KARRIERËS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6800" y="4152900"/>
            <a:ext cx="353187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Njeh katër profesione në shëndetësi dhe shkollimin që kërkojnë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03800" y="2625089"/>
            <a:ext cx="65666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Pyetja: "Kush kujdeset për zemrën tonë kur sëmuremi?"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3800" y="3018789"/>
            <a:ext cx="656666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Çdo grup merr një kartë: kardiolog, infermier, teknik laboratori, paramedik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03800" y="3679189"/>
            <a:ext cx="656666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Përgjigjen: çfarë bën, çfarë i duhet nga tema e sotme, çfarë shkollimi kërkon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03800" y="4339592"/>
            <a:ext cx="65666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Një përfaqësues raporton për 1 minutë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03800" y="4733292"/>
            <a:ext cx="6375400" cy="520700"/>
          </a:xfrm>
          <a:prstGeom prst="roundRect">
            <a:avLst>
              <a:gd name="adj" fmla="val 14634"/>
            </a:avLst>
          </a:prstGeom>
          <a:solidFill>
            <a:srgbClr val="EDE9DD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Refleksion: "Cili profesion të duket më interesant dhe pse?"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446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SHEMBULLI 2 • MATEMATIKË • KLASA IX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492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"Buxheti i furrës sonë të bukës"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37079"/>
            <a:ext cx="3937000" cy="3804920"/>
          </a:xfrm>
          <a:prstGeom prst="roundRect">
            <a:avLst>
              <a:gd name="adj" fmla="val 2670"/>
            </a:avLst>
          </a:prstGeom>
          <a:solidFill>
            <a:srgbClr val="1F3F8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91079"/>
            <a:ext cx="35318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649221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Përqindjet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66800" y="3042921"/>
            <a:ext cx="35318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KOHA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3401064"/>
            <a:ext cx="35318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15 minuta (detyrë e zgjeruar)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6800" y="3794764"/>
            <a:ext cx="35318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REZULTATI I KARRIERËS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6800" y="4152900"/>
            <a:ext cx="353187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Kupton bazat e financave të një biznesi dhe profesionet përkatëse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03800" y="2891792"/>
            <a:ext cx="7188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</a:t>
            </a: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Një furrë buke imagjinare në Kaçanik: të ardhurat dhe shpenzimet mujore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03800" y="3285492"/>
            <a:ext cx="65666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</a:t>
            </a: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Llogaritni përqindjen e shpenzimeve për miell, rrymë dhe paga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03800" y="3679192"/>
            <a:ext cx="65666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</a:t>
            </a: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Si ndryshon fitimi nëse mielli shtrenjtohet 10%?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03800" y="4072892"/>
            <a:ext cx="65666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</a:t>
            </a: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Kush i bën këto llogari në punë? Kontabilisti, ekonomisti, pronari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03800" y="4466592"/>
            <a:ext cx="6375400" cy="520700"/>
          </a:xfrm>
          <a:prstGeom prst="roundRect">
            <a:avLst>
              <a:gd name="adj" fmla="val 14634"/>
            </a:avLst>
          </a:prstGeom>
          <a:solidFill>
            <a:srgbClr val="EDE9DD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Refleksion: "Çfarë vendimi do të merrje ti si pronar?"</a:t>
            </a:r>
            <a:endParaRPr lang="en-US" sz="15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446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KUJDES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5E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Çfarë duhet shmangur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209800"/>
            <a:ext cx="5181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400300"/>
            <a:ext cx="53370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Stereotipet gjinore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750821"/>
            <a:ext cx="533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Asnjë profesion nuk është "për djem" ose "për vajza".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7600" y="2209800"/>
            <a:ext cx="5181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97600" y="2400300"/>
            <a:ext cx="53370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Nënvlerësimi i zanateve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97600" y="2750821"/>
            <a:ext cx="533704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Profesionet teknike paraqiten me të njëjtin respekt si ato akademike.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800" y="4258314"/>
            <a:ext cx="5181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4448814"/>
            <a:ext cx="53370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Orë e ndarë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4799329"/>
            <a:ext cx="533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Karriera e plotëson temën e lëndës, nuk e zëvendëson.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7600" y="4258314"/>
            <a:ext cx="51816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7600" y="4448814"/>
            <a:ext cx="53370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Shembuj të largët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97600" y="4799329"/>
            <a:ext cx="533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Ku mundet, përdorni profesione dhe biznese nga Kaçaniku.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446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PUNË NË GRUPE • 30 MINUTA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1572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Harto aktivitetin tënd 10-minutësh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95500"/>
            <a:ext cx="591261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3F8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Hapat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0107" y="2506979"/>
            <a:ext cx="5857685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6693" indent="-206693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Uluni sipas fushave kurrikulare</a:t>
            </a:r>
            <a:endParaRPr lang="en-US" sz="1500" dirty="0"/>
          </a:p>
          <a:p>
            <a:pPr algn="l" marL="206693" indent="-206693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Zgjidhni një temë nga plani juaj i këtij muaji</a:t>
            </a:r>
            <a:endParaRPr lang="en-US" sz="1500" dirty="0"/>
          </a:p>
          <a:p>
            <a:pPr algn="l" marL="206693" indent="-206693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Gjeni profesionet në hartën B3</a:t>
            </a:r>
            <a:endParaRPr lang="en-US" sz="1500" dirty="0"/>
          </a:p>
          <a:p>
            <a:pPr algn="l" marL="206693" indent="-206693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Zgjidhni një nga pesë mënyrat</a:t>
            </a:r>
            <a:endParaRPr lang="en-US" sz="1500" dirty="0"/>
          </a:p>
          <a:p>
            <a:pPr algn="l" marL="206693" indent="-206693">
              <a:lnSpc>
                <a:spcPts val="2250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Plotësoni fletën A3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13550" y="2101850"/>
            <a:ext cx="4559300" cy="3733800"/>
          </a:xfrm>
          <a:prstGeom prst="roundRect">
            <a:avLst>
              <a:gd name="adj" fmla="val 2551"/>
            </a:avLst>
          </a:prstGeom>
          <a:solidFill>
            <a:srgbClr val="FCFBF8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1360" y="2359664"/>
            <a:ext cx="416499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42A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Fleta A3 kërkon: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55942" y="2745742"/>
            <a:ext cx="4072788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Lënda, klasa dhe tema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Së paku 3 profesione të lidhura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Aftësia që zhvillohet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Hapat e aktivitetit (5–10 min)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Pyetja e refleksionit</a:t>
            </a:r>
            <a:endParaRPr lang="en-US" sz="1400" dirty="0"/>
          </a:p>
          <a:p>
            <a:pPr algn="l" marL="169418" indent="-16941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3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 e di që funksionoi?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446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8A6D0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PAS TRAJNIMIT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66521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Hapat e ardhshëm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197100"/>
            <a:ext cx="3386614" cy="3644900"/>
          </a:xfrm>
          <a:prstGeom prst="roundRect">
            <a:avLst>
              <a:gd name="adj" fmla="val 3000"/>
            </a:avLst>
          </a:prstGeom>
          <a:solidFill>
            <a:srgbClr val="1F3F8F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2476500"/>
            <a:ext cx="2912648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8C55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92200" y="3456942"/>
            <a:ext cx="291264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javë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2200" y="3858264"/>
            <a:ext cx="291264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Zbatoni aktivitetin që hartuat sot në klasën tuaj.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14" y="2197100"/>
            <a:ext cx="3386693" cy="3644900"/>
          </a:xfrm>
          <a:prstGeom prst="roundRect">
            <a:avLst>
              <a:gd name="adj" fmla="val 3000"/>
            </a:avLst>
          </a:prstGeom>
          <a:solidFill>
            <a:srgbClr val="1F3F8F"/>
          </a:solidFill>
          <a:ln/>
        </p:spPr>
      </p:sp>
      <p:sp>
        <p:nvSpPr>
          <p:cNvPr id="9" name="Text 7"/>
          <p:cNvSpPr/>
          <p:nvPr/>
        </p:nvSpPr>
        <p:spPr>
          <a:xfrm>
            <a:off x="4682014" y="2476500"/>
            <a:ext cx="291273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E8C55A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682014" y="3456942"/>
            <a:ext cx="291273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aktivitet në muaj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82014" y="3858264"/>
            <a:ext cx="291273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3E9F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Për çdo lëndë dhe për çdo paralele, gjatë gjithë vitit.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507" y="2197100"/>
            <a:ext cx="3386693" cy="3644900"/>
          </a:xfrm>
          <a:prstGeom prst="roundRect">
            <a:avLst>
              <a:gd name="adj" fmla="val 3000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8271907" y="2476500"/>
            <a:ext cx="2912730" cy="87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142A5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B6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271907" y="3456942"/>
            <a:ext cx="291273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A5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formulari mujor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1907" y="3858264"/>
            <a:ext cx="291273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C243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Dorëzohet te këshilltari i karrierës në fund të çdo muaji.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-196" r="-196" t="0" b="0"/>
          <a:stretch/>
        </p:blipFill>
        <p:spPr>
          <a:xfrm>
            <a:off x="812800" y="6197600"/>
            <a:ext cx="330200" cy="330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44600" y="6238242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SHFMU "Emin Duraku" – Kaçanik • Karriera në çdo orë mësimi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66400" y="6238242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37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56400"/>
            <a:ext cx="12192000" cy="101600"/>
          </a:xfrm>
          <a:prstGeom prst="rect">
            <a:avLst/>
          </a:prstGeom>
          <a:solidFill>
            <a:srgbClr val="C9A227"/>
          </a:solidFill>
          <a:ln/>
        </p:spPr>
      </p:sp>
      <p:pic>
        <p:nvPicPr>
          <p:cNvPr id="3" name="Image 0" descr="Stema e Republikës së Kosovës">    </p:cNvPr>
          <p:cNvPicPr>
            <a:picLocks noChangeAspect="1"/>
          </p:cNvPicPr>
          <p:nvPr/>
        </p:nvPicPr>
        <p:blipFill>
          <a:blip r:embed="rId1"/>
          <a:srcRect l="-143" r="-143" t="0" b="0"/>
          <a:stretch/>
        </p:blipFill>
        <p:spPr>
          <a:xfrm>
            <a:off x="812800" y="609600"/>
            <a:ext cx="742950" cy="762000"/>
          </a:xfrm>
          <a:prstGeom prst="rect">
            <a:avLst/>
          </a:prstGeom>
        </p:spPr>
      </p:pic>
      <p:pic>
        <p:nvPicPr>
          <p:cNvPr id="4" name="Image 1" descr="Stema e Komunës së Kaçanikut">    </p:cNvPr>
          <p:cNvPicPr>
            <a:picLocks noChangeAspect="1"/>
          </p:cNvPicPr>
          <p:nvPr/>
        </p:nvPicPr>
        <p:blipFill>
          <a:blip r:embed="rId2"/>
          <a:srcRect l="-45" r="-45" t="0" b="0"/>
          <a:stretch/>
        </p:blipFill>
        <p:spPr>
          <a:xfrm>
            <a:off x="10775950" y="609600"/>
            <a:ext cx="603250" cy="762000"/>
          </a:xfrm>
          <a:prstGeom prst="rect">
            <a:avLst/>
          </a:prstGeom>
        </p:spPr>
      </p:pic>
      <p:pic>
        <p:nvPicPr>
          <p:cNvPr id="5" name="Image 2" descr="Logoja e SHFMU Emin Duraku">    </p:cNvPr>
          <p:cNvPicPr>
            <a:picLocks noChangeAspect="1"/>
          </p:cNvPicPr>
          <p:nvPr/>
        </p:nvPicPr>
        <p:blipFill>
          <a:blip r:embed="rId3"/>
          <a:srcRect l="-196" r="-196" t="0" b="0"/>
          <a:stretch/>
        </p:blipFill>
        <p:spPr>
          <a:xfrm>
            <a:off x="5619750" y="1868171"/>
            <a:ext cx="952500" cy="952500"/>
          </a:xfrm>
          <a:prstGeom prst="rect">
            <a:avLst/>
          </a:prstGeom>
        </p:spPr>
      </p:pic>
      <p:sp>
        <p:nvSpPr>
          <p:cNvPr id="6" name="Text 1"/>
          <p:cNvSpPr/>
          <p:nvPr>
            <p:ph type="title"/>
          </p:nvPr>
        </p:nvSpPr>
        <p:spPr>
          <a:xfrm>
            <a:off x="3025426" y="3074671"/>
            <a:ext cx="6141148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Faleminderit!</a:t>
            </a:r>
            <a:endParaRPr lang="en-US" sz="6000" dirty="0"/>
          </a:p>
        </p:txBody>
      </p:sp>
      <p:sp>
        <p:nvSpPr>
          <p:cNvPr id="7" name="Text 2"/>
          <p:cNvSpPr/>
          <p:nvPr/>
        </p:nvSpPr>
        <p:spPr>
          <a:xfrm>
            <a:off x="1939584" y="4166871"/>
            <a:ext cx="8312753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4E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Ju lutemi plotësoni pyetësorin e vlerësimit (A5) para se të largoheni.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2168366" y="4740914"/>
            <a:ext cx="78552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E8C55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KËSHILLTARI I KARRIERËS • SHFMU "EMIN DURAKU" – KAÇANIK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rriera në çdo orë mësimi">
  <a:themeElements>
    <a:clrScheme name="Karriera në çdo orë mësimi">
      <a:dk1>
        <a:srgbClr val="142A5E"/>
      </a:dk1>
      <a:lt1>
        <a:srgbClr val="F7F5EF"/>
      </a:lt1>
      <a:dk2>
        <a:srgbClr val="4D5D82"/>
      </a:dk2>
      <a:lt2>
        <a:srgbClr val="E0E1E1"/>
      </a:lt2>
      <a:accent1>
        <a:srgbClr val="1F3F8F"/>
      </a:accent1>
      <a:accent2>
        <a:srgbClr val="E8C55A"/>
      </a:accent2>
      <a:accent3>
        <a:srgbClr val="C9A227"/>
      </a:accent3>
      <a:accent4>
        <a:srgbClr val="8A6D0F"/>
      </a:accent4>
      <a:accent5>
        <a:srgbClr val="1C2436"/>
      </a:accent5>
      <a:accent6>
        <a:srgbClr val="5A6378"/>
      </a:accent6>
      <a:hlink>
        <a:srgbClr val="0563C1"/>
      </a:hlink>
      <a:folHlink>
        <a:srgbClr val="954F72"/>
      </a:folHlink>
    </a:clrScheme>
    <a:fontScheme name="Karriera në çdo orë mësimi">
      <a:majorFont>
        <a:latin typeface="Dom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Karriera në çdo orë mësimi</dc:title>
  <dc:subject/>
  <dc:creator/>
  <cp:lastModifiedBy/>
  <cp:revision>1</cp:revision>
  <dcterms:created xsi:type="dcterms:W3CDTF">2026-10-12T14:53:46Z</dcterms:created>
  <dcterms:modified xsi:type="dcterms:W3CDTF">2026-10-12T14:53:46Z</dcterms:modified>
</cp:coreProperties>
</file>