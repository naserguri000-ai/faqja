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27" r:id="rId2"/>
  </p:sldMasterIdLst>
  <p:notesMasterIdLst>
    <p:notesMasterId r:id="rId73"/>
  </p:notesMasterIdLst>
  <p:sldIdLst>
    <p:sldId id="535" r:id="rId3"/>
    <p:sldId id="605" r:id="rId4"/>
    <p:sldId id="258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551" r:id="rId20"/>
    <p:sldId id="552" r:id="rId21"/>
    <p:sldId id="553" r:id="rId22"/>
    <p:sldId id="554" r:id="rId23"/>
    <p:sldId id="555" r:id="rId24"/>
    <p:sldId id="556" r:id="rId25"/>
    <p:sldId id="557" r:id="rId26"/>
    <p:sldId id="558" r:id="rId27"/>
    <p:sldId id="559" r:id="rId28"/>
    <p:sldId id="560" r:id="rId29"/>
    <p:sldId id="561" r:id="rId30"/>
    <p:sldId id="606" r:id="rId31"/>
    <p:sldId id="563" r:id="rId32"/>
    <p:sldId id="564" r:id="rId33"/>
    <p:sldId id="565" r:id="rId34"/>
    <p:sldId id="566" r:id="rId35"/>
    <p:sldId id="567" r:id="rId36"/>
    <p:sldId id="568" r:id="rId37"/>
    <p:sldId id="569" r:id="rId38"/>
    <p:sldId id="570" r:id="rId39"/>
    <p:sldId id="571" r:id="rId40"/>
    <p:sldId id="572" r:id="rId41"/>
    <p:sldId id="573" r:id="rId42"/>
    <p:sldId id="574" r:id="rId43"/>
    <p:sldId id="575" r:id="rId44"/>
    <p:sldId id="576" r:id="rId45"/>
    <p:sldId id="577" r:id="rId46"/>
    <p:sldId id="578" r:id="rId47"/>
    <p:sldId id="579" r:id="rId48"/>
    <p:sldId id="580" r:id="rId49"/>
    <p:sldId id="581" r:id="rId50"/>
    <p:sldId id="582" r:id="rId51"/>
    <p:sldId id="583" r:id="rId52"/>
    <p:sldId id="584" r:id="rId53"/>
    <p:sldId id="585" r:id="rId54"/>
    <p:sldId id="586" r:id="rId55"/>
    <p:sldId id="587" r:id="rId56"/>
    <p:sldId id="588" r:id="rId57"/>
    <p:sldId id="589" r:id="rId58"/>
    <p:sldId id="590" r:id="rId59"/>
    <p:sldId id="591" r:id="rId60"/>
    <p:sldId id="592" r:id="rId61"/>
    <p:sldId id="593" r:id="rId62"/>
    <p:sldId id="594" r:id="rId63"/>
    <p:sldId id="595" r:id="rId64"/>
    <p:sldId id="596" r:id="rId65"/>
    <p:sldId id="597" r:id="rId66"/>
    <p:sldId id="598" r:id="rId67"/>
    <p:sldId id="599" r:id="rId68"/>
    <p:sldId id="600" r:id="rId69"/>
    <p:sldId id="602" r:id="rId70"/>
    <p:sldId id="604" r:id="rId71"/>
    <p:sldId id="603" r:id="rId7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5" autoAdjust="0"/>
    <p:restoredTop sz="90990"/>
  </p:normalViewPr>
  <p:slideViewPr>
    <p:cSldViewPr>
      <p:cViewPr varScale="1">
        <p:scale>
          <a:sx n="65" d="100"/>
          <a:sy n="65" d="100"/>
        </p:scale>
        <p:origin x="14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8D1CF4D-D3EF-4E4E-AEAD-D9BE1CB10126}" type="datetimeFigureOut">
              <a:rPr lang="en-US"/>
              <a:pPr>
                <a:defRPr/>
              </a:pPr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B3AC4CD-655A-46FF-8CF1-638AA8C1B2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398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5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429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3" name="Rectangle 2"/>
          <p:cNvSpPr/>
          <p:nvPr userDrawn="1"/>
        </p:nvSpPr>
        <p:spPr>
          <a:xfrm>
            <a:off x="4191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4" name="Rectangle 3"/>
          <p:cNvSpPr/>
          <p:nvPr userDrawn="1"/>
        </p:nvSpPr>
        <p:spPr>
          <a:xfrm>
            <a:off x="1905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5" name="Rectangle 4"/>
          <p:cNvSpPr/>
          <p:nvPr userDrawn="1"/>
        </p:nvSpPr>
        <p:spPr>
          <a:xfrm>
            <a:off x="2667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6" name="Rectangle 5"/>
          <p:cNvSpPr/>
          <p:nvPr userDrawn="1"/>
        </p:nvSpPr>
        <p:spPr>
          <a:xfrm>
            <a:off x="6477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7" name="Rectangle 6"/>
          <p:cNvSpPr/>
          <p:nvPr userDrawn="1"/>
        </p:nvSpPr>
        <p:spPr>
          <a:xfrm>
            <a:off x="7239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8" name="Rectangle 7"/>
          <p:cNvSpPr/>
          <p:nvPr userDrawn="1"/>
        </p:nvSpPr>
        <p:spPr>
          <a:xfrm>
            <a:off x="4953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9" name="Rectangle 8"/>
          <p:cNvSpPr/>
          <p:nvPr userDrawn="1"/>
        </p:nvSpPr>
        <p:spPr>
          <a:xfrm>
            <a:off x="5715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0" name="Rectangle 9"/>
          <p:cNvSpPr/>
          <p:nvPr userDrawn="1"/>
        </p:nvSpPr>
        <p:spPr>
          <a:xfrm>
            <a:off x="1143000" y="5562600"/>
            <a:ext cx="762000" cy="228600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1" name="Rectangle 10"/>
          <p:cNvSpPr/>
          <p:nvPr userDrawn="1"/>
        </p:nvSpPr>
        <p:spPr>
          <a:xfrm>
            <a:off x="1143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2" name="Rectangle 11"/>
          <p:cNvSpPr/>
          <p:nvPr userDrawn="1"/>
        </p:nvSpPr>
        <p:spPr>
          <a:xfrm>
            <a:off x="7239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3" name="Rectangle 12"/>
          <p:cNvSpPr/>
          <p:nvPr userDrawn="1"/>
        </p:nvSpPr>
        <p:spPr>
          <a:xfrm>
            <a:off x="1905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4" name="Rectangle 13"/>
          <p:cNvSpPr/>
          <p:nvPr userDrawn="1"/>
        </p:nvSpPr>
        <p:spPr>
          <a:xfrm>
            <a:off x="6477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5" name="Rectangle 14"/>
          <p:cNvSpPr/>
          <p:nvPr userDrawn="1"/>
        </p:nvSpPr>
        <p:spPr>
          <a:xfrm>
            <a:off x="2667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6" name="Rectangle 15"/>
          <p:cNvSpPr/>
          <p:nvPr userDrawn="1"/>
        </p:nvSpPr>
        <p:spPr>
          <a:xfrm>
            <a:off x="5715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7" name="Rectangle 16"/>
          <p:cNvSpPr/>
          <p:nvPr userDrawn="1"/>
        </p:nvSpPr>
        <p:spPr>
          <a:xfrm>
            <a:off x="3429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8" name="Rectangle 17"/>
          <p:cNvSpPr/>
          <p:nvPr userDrawn="1"/>
        </p:nvSpPr>
        <p:spPr>
          <a:xfrm>
            <a:off x="4953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19" name="Rectangle 18"/>
          <p:cNvSpPr/>
          <p:nvPr userDrawn="1"/>
        </p:nvSpPr>
        <p:spPr>
          <a:xfrm>
            <a:off x="4191000" y="5562600"/>
            <a:ext cx="762000" cy="228600"/>
          </a:xfrm>
          <a:prstGeom prst="rect">
            <a:avLst/>
          </a:prstGeom>
          <a:solidFill>
            <a:srgbClr val="FF0000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th-TH" sz="2400"/>
          </a:p>
        </p:txBody>
      </p:sp>
      <p:sp>
        <p:nvSpPr>
          <p:cNvPr id="20" name="TextBox 19"/>
          <p:cNvSpPr txBox="1"/>
          <p:nvPr userDrawn="1"/>
        </p:nvSpPr>
        <p:spPr bwMode="auto">
          <a:xfrm>
            <a:off x="4114800" y="5575756"/>
            <a:ext cx="9144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sq-AL" sz="8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KOHA</a:t>
            </a:r>
            <a:endParaRPr lang="en-US" sz="8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1" name="TextBox 20">
            <a:hlinkClick r:id="" action="ppaction://hlinkshowjump?jump=nextslide"/>
          </p:cNvPr>
          <p:cNvSpPr txBox="1"/>
          <p:nvPr userDrawn="1"/>
        </p:nvSpPr>
        <p:spPr bwMode="auto">
          <a:xfrm>
            <a:off x="8099424" y="5569176"/>
            <a:ext cx="104457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sq-AL" sz="8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PËRGJIGJET</a:t>
            </a:r>
            <a:endParaRPr lang="en-US" sz="8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66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Ra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  <p:bldP spid="15" grpId="1" animBg="1"/>
      <p:bldP spid="16" grpId="0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51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11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95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48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13" Type="http://schemas.openxmlformats.org/officeDocument/2006/relationships/audio" Target="../media/audio4.bin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slide" Target="../slides/slide9.xml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3.wav"/><Relationship Id="rId4" Type="http://schemas.openxmlformats.org/officeDocument/2006/relationships/slideLayout" Target="../slideLayouts/slideLayout4.xml"/><Relationship Id="rId9" Type="http://schemas.openxmlformats.org/officeDocument/2006/relationships/audio" Target="../media/audio2.bin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20"/>
          <p:cNvGrpSpPr>
            <a:grpSpLocks/>
          </p:cNvGrpSpPr>
          <p:nvPr userDrawn="1"/>
        </p:nvGrpSpPr>
        <p:grpSpPr bwMode="auto">
          <a:xfrm>
            <a:off x="7010400" y="6172202"/>
            <a:ext cx="1804989" cy="657642"/>
            <a:chOff x="7010399" y="6172200"/>
            <a:chExt cx="1804989" cy="657096"/>
          </a:xfrm>
        </p:grpSpPr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7467600" y="6491023"/>
              <a:ext cx="533400" cy="338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sq-AL" altLang="en-US" sz="800" b="1" dirty="0">
                  <a:solidFill>
                    <a:schemeClr val="bg1"/>
                  </a:solidFill>
                  <a:effectLst/>
                </a:rPr>
                <a:t>Brohoritje</a:t>
              </a:r>
              <a:endParaRPr lang="en-US" altLang="en-US" sz="800" b="1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Text Box 64"/>
            <p:cNvSpPr txBox="1">
              <a:spLocks noChangeArrowheads="1"/>
            </p:cNvSpPr>
            <p:nvPr/>
          </p:nvSpPr>
          <p:spPr bwMode="auto">
            <a:xfrm>
              <a:off x="8229600" y="6491023"/>
              <a:ext cx="585788" cy="214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sq-AL" altLang="en-US" sz="800" b="1" dirty="0">
                  <a:solidFill>
                    <a:schemeClr val="bg1"/>
                  </a:solidFill>
                  <a:effectLst/>
                </a:rPr>
                <a:t>Heshtje</a:t>
              </a:r>
              <a:endParaRPr lang="en-US" altLang="en-US" sz="800" b="1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4" name="Text Box 65"/>
            <p:cNvSpPr txBox="1">
              <a:spLocks noChangeArrowheads="1"/>
            </p:cNvSpPr>
            <p:nvPr/>
          </p:nvSpPr>
          <p:spPr bwMode="auto">
            <a:xfrm>
              <a:off x="7010399" y="6491023"/>
              <a:ext cx="541338" cy="215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sq-AL" altLang="en-US" sz="800" b="1" dirty="0">
                  <a:solidFill>
                    <a:schemeClr val="bg1"/>
                  </a:solidFill>
                  <a:effectLst/>
                </a:rPr>
                <a:t>Gabim</a:t>
              </a:r>
              <a:endParaRPr lang="en-US" altLang="en-US" sz="800" b="1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Text Box 69"/>
            <p:cNvSpPr txBox="1">
              <a:spLocks noChangeArrowheads="1"/>
            </p:cNvSpPr>
            <p:nvPr/>
          </p:nvSpPr>
          <p:spPr bwMode="auto">
            <a:xfrm>
              <a:off x="7885113" y="6491023"/>
              <a:ext cx="457200" cy="214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en-US" sz="800" b="1" dirty="0">
                  <a:solidFill>
                    <a:schemeClr val="bg1"/>
                  </a:solidFill>
                  <a:effectLst/>
                </a:rPr>
                <a:t>Boo</a:t>
              </a:r>
            </a:p>
          </p:txBody>
        </p:sp>
        <p:sp>
          <p:nvSpPr>
            <p:cNvPr id="27" name="AutoShape 60">
              <a:hlinkClick r:id="" action="ppaction://noaction" highlightClick="1">
                <a:snd r:embed="rId8" name="cheering1.wav"/>
              </a:hlinkClick>
            </p:cNvPr>
            <p:cNvSpPr>
              <a:spLocks noChangeArrowheads="1"/>
            </p:cNvSpPr>
            <p:nvPr/>
          </p:nvSpPr>
          <p:spPr bwMode="auto">
            <a:xfrm>
              <a:off x="7512050" y="6172200"/>
              <a:ext cx="365125" cy="364822"/>
            </a:xfrm>
            <a:prstGeom prst="actionButtonSound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2400"/>
            </a:p>
          </p:txBody>
        </p:sp>
        <p:sp>
          <p:nvSpPr>
            <p:cNvPr id="28" name="AutoShape 61">
              <a:hlinkClick r:id="" action="ppaction://noaction" highlightClick="1">
                <a:snd r:embed="rId9" name="Buzzer.wav"/>
              </a:hlinkClick>
            </p:cNvPr>
            <p:cNvSpPr>
              <a:spLocks noChangeArrowheads="1"/>
            </p:cNvSpPr>
            <p:nvPr/>
          </p:nvSpPr>
          <p:spPr bwMode="auto">
            <a:xfrm>
              <a:off x="7102475" y="6172200"/>
              <a:ext cx="365125" cy="364822"/>
            </a:xfrm>
            <a:prstGeom prst="actionButtonSound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2400"/>
            </a:p>
          </p:txBody>
        </p:sp>
        <p:sp>
          <p:nvSpPr>
            <p:cNvPr id="29" name="AutoShape 62">
              <a:hlinkClick r:id="" action="ppaction://noaction" highlightClick="1" endSnd="1"/>
            </p:cNvPr>
            <p:cNvSpPr>
              <a:spLocks noChangeArrowheads="1"/>
            </p:cNvSpPr>
            <p:nvPr/>
          </p:nvSpPr>
          <p:spPr bwMode="auto">
            <a:xfrm>
              <a:off x="8328025" y="6172200"/>
              <a:ext cx="365125" cy="364822"/>
            </a:xfrm>
            <a:prstGeom prst="actionButtonSound">
              <a:avLst/>
            </a:prstGeom>
            <a:solidFill>
              <a:srgbClr val="F6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2400"/>
            </a:p>
          </p:txBody>
        </p:sp>
        <p:sp>
          <p:nvSpPr>
            <p:cNvPr id="31" name="AutoShape 68">
              <a:hlinkClick r:id="" action="ppaction://noaction" highlightClick="1">
                <a:snd r:embed="rId10" name="boo3.wav"/>
              </a:hlinkClick>
            </p:cNvPr>
            <p:cNvSpPr>
              <a:spLocks noChangeArrowheads="1"/>
            </p:cNvSpPr>
            <p:nvPr/>
          </p:nvSpPr>
          <p:spPr bwMode="auto">
            <a:xfrm>
              <a:off x="7924800" y="6172200"/>
              <a:ext cx="365125" cy="364822"/>
            </a:xfrm>
            <a:prstGeom prst="actionButtonSound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ahoma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2400"/>
            </a:p>
          </p:txBody>
        </p:sp>
      </p:grpSp>
      <p:pic>
        <p:nvPicPr>
          <p:cNvPr id="1032" name="Picture 2">
            <a:hlinkClick r:id="rId11" action="ppaction://hlinksldjump"/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789" y="5986465"/>
            <a:ext cx="7207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63"/>
          <p:cNvSpPr txBox="1">
            <a:spLocks noChangeArrowheads="1"/>
          </p:cNvSpPr>
          <p:nvPr userDrawn="1"/>
        </p:nvSpPr>
        <p:spPr bwMode="auto">
          <a:xfrm>
            <a:off x="6589714" y="6491288"/>
            <a:ext cx="57308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sq-AL" altLang="en-US" sz="800" b="1" dirty="0">
                <a:solidFill>
                  <a:schemeClr val="bg1"/>
                </a:solidFill>
                <a:effectLst/>
              </a:rPr>
              <a:t>Saktë</a:t>
            </a:r>
            <a:endParaRPr lang="en-US" altLang="en-US" sz="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AutoShape 60">
            <a:hlinkClick r:id="" action="ppaction://noaction" highlightClick="1">
              <a:snd r:embed="rId13" name="Ding.wav"/>
            </a:hlinkClick>
          </p:cNvPr>
          <p:cNvSpPr>
            <a:spLocks noChangeArrowheads="1"/>
          </p:cNvSpPr>
          <p:nvPr userDrawn="1"/>
        </p:nvSpPr>
        <p:spPr bwMode="auto">
          <a:xfrm>
            <a:off x="6673850" y="6172200"/>
            <a:ext cx="365125" cy="365125"/>
          </a:xfrm>
          <a:prstGeom prst="actionButtonSound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24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79E3BE-DBED-3228-ADEB-B743E6D73022}"/>
              </a:ext>
            </a:extLst>
          </p:cNvPr>
          <p:cNvSpPr/>
          <p:nvPr userDrawn="1"/>
        </p:nvSpPr>
        <p:spPr bwMode="auto">
          <a:xfrm>
            <a:off x="381000" y="5986465"/>
            <a:ext cx="2743200" cy="71913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Punoi: Naser Guri</a:t>
            </a:r>
            <a:endParaRPr kumimoji="0" lang="sq-X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9" r:id="rId2"/>
    <p:sldLayoutId id="2147483713" r:id="rId3"/>
    <p:sldLayoutId id="2147483724" r:id="rId4"/>
    <p:sldLayoutId id="2147483726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90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62.xml"/><Relationship Id="rId18" Type="http://schemas.openxmlformats.org/officeDocument/2006/relationships/slide" Target="slide54.xml"/><Relationship Id="rId26" Type="http://schemas.openxmlformats.org/officeDocument/2006/relationships/slide" Target="slide18.xml"/><Relationship Id="rId3" Type="http://schemas.openxmlformats.org/officeDocument/2006/relationships/slide" Target="slide10.xml"/><Relationship Id="rId21" Type="http://schemas.openxmlformats.org/officeDocument/2006/relationships/slide" Target="slide26.xml"/><Relationship Id="rId7" Type="http://schemas.openxmlformats.org/officeDocument/2006/relationships/slide" Target="slide60.xml"/><Relationship Id="rId12" Type="http://schemas.openxmlformats.org/officeDocument/2006/relationships/slide" Target="slide52.xml"/><Relationship Id="rId17" Type="http://schemas.openxmlformats.org/officeDocument/2006/relationships/slide" Target="slide44.xml"/><Relationship Id="rId25" Type="http://schemas.openxmlformats.org/officeDocument/2006/relationships/slide" Target="slide66.xml"/><Relationship Id="rId2" Type="http://schemas.openxmlformats.org/officeDocument/2006/relationships/image" Target="../media/image4.jpg"/><Relationship Id="rId16" Type="http://schemas.openxmlformats.org/officeDocument/2006/relationships/slide" Target="slide34.xml"/><Relationship Id="rId20" Type="http://schemas.openxmlformats.org/officeDocument/2006/relationships/slide" Target="slide16.xml"/><Relationship Id="rId29" Type="http://schemas.openxmlformats.org/officeDocument/2006/relationships/slide" Target="slide4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50.xml"/><Relationship Id="rId11" Type="http://schemas.openxmlformats.org/officeDocument/2006/relationships/slide" Target="slide42.xml"/><Relationship Id="rId24" Type="http://schemas.openxmlformats.org/officeDocument/2006/relationships/slide" Target="slide56.xml"/><Relationship Id="rId32" Type="http://schemas.openxmlformats.org/officeDocument/2006/relationships/slide" Target="slide20.xml"/><Relationship Id="rId5" Type="http://schemas.openxmlformats.org/officeDocument/2006/relationships/slide" Target="slide40.xml"/><Relationship Id="rId15" Type="http://schemas.openxmlformats.org/officeDocument/2006/relationships/slide" Target="slide24.xml"/><Relationship Id="rId23" Type="http://schemas.openxmlformats.org/officeDocument/2006/relationships/slide" Target="slide46.xml"/><Relationship Id="rId28" Type="http://schemas.openxmlformats.org/officeDocument/2006/relationships/slide" Target="slide38.xml"/><Relationship Id="rId10" Type="http://schemas.openxmlformats.org/officeDocument/2006/relationships/slide" Target="slide32.xml"/><Relationship Id="rId19" Type="http://schemas.openxmlformats.org/officeDocument/2006/relationships/slide" Target="slide64.xml"/><Relationship Id="rId31" Type="http://schemas.openxmlformats.org/officeDocument/2006/relationships/slide" Target="slide68.xml"/><Relationship Id="rId4" Type="http://schemas.openxmlformats.org/officeDocument/2006/relationships/slide" Target="slide30.xml"/><Relationship Id="rId9" Type="http://schemas.openxmlformats.org/officeDocument/2006/relationships/slide" Target="slide22.xml"/><Relationship Id="rId14" Type="http://schemas.openxmlformats.org/officeDocument/2006/relationships/slide" Target="slide14.xml"/><Relationship Id="rId22" Type="http://schemas.openxmlformats.org/officeDocument/2006/relationships/slide" Target="slide36.xml"/><Relationship Id="rId27" Type="http://schemas.openxmlformats.org/officeDocument/2006/relationships/slide" Target="slide28.xml"/><Relationship Id="rId30" Type="http://schemas.openxmlformats.org/officeDocument/2006/relationships/slide" Target="slide5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AutoShape 11"/>
          <p:cNvSpPr>
            <a:spLocks noChangeArrowheads="1"/>
          </p:cNvSpPr>
          <p:nvPr/>
        </p:nvSpPr>
        <p:spPr bwMode="auto">
          <a:xfrm>
            <a:off x="2" y="0"/>
            <a:ext cx="4391025" cy="6858000"/>
          </a:xfrm>
          <a:prstGeom prst="parallelogram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  <a:alpha val="0"/>
                </a:schemeClr>
              </a:gs>
              <a:gs pos="50000">
                <a:schemeClr val="bg1">
                  <a:alpha val="25000"/>
                </a:schemeClr>
              </a:gs>
              <a:gs pos="100000">
                <a:schemeClr val="accent1">
                  <a:gamma/>
                  <a:shade val="46275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en-US" sz="6000" b="1" i="1">
              <a:solidFill>
                <a:srgbClr val="000066"/>
              </a:solidFill>
            </a:endParaRPr>
          </a:p>
        </p:txBody>
      </p:sp>
      <p:sp>
        <p:nvSpPr>
          <p:cNvPr id="6156" name="AutoShape 12"/>
          <p:cNvSpPr>
            <a:spLocks noChangeArrowheads="1"/>
          </p:cNvSpPr>
          <p:nvPr/>
        </p:nvSpPr>
        <p:spPr bwMode="auto">
          <a:xfrm>
            <a:off x="4752977" y="0"/>
            <a:ext cx="4391025" cy="6858000"/>
          </a:xfrm>
          <a:prstGeom prst="parallelogram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  <a:alpha val="0"/>
                </a:schemeClr>
              </a:gs>
              <a:gs pos="50000">
                <a:schemeClr val="bg1">
                  <a:alpha val="58000"/>
                </a:schemeClr>
              </a:gs>
              <a:gs pos="100000">
                <a:schemeClr val="accent1">
                  <a:gamma/>
                  <a:shade val="46275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en-US" sz="6600" b="1" i="1">
              <a:solidFill>
                <a:srgbClr val="00006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624D59-AB2A-47E4-9A10-6D3A13F3AECC}"/>
              </a:ext>
            </a:extLst>
          </p:cNvPr>
          <p:cNvSpPr txBox="1"/>
          <p:nvPr/>
        </p:nvSpPr>
        <p:spPr bwMode="auto">
          <a:xfrm>
            <a:off x="304800" y="2844968"/>
            <a:ext cx="8458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BIOLOGJI</a:t>
            </a:r>
            <a:r>
              <a:rPr lang="sq-AL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 KL-6</a:t>
            </a:r>
            <a:endParaRPr lang="sq-XK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3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86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1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1" fill="hold" nodeType="withEffect">
                                  <p:stCondLst>
                                    <p:cond delay="86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61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Box 1"/>
          <p:cNvSpPr txBox="1">
            <a:spLocks noChangeArrowheads="1"/>
          </p:cNvSpPr>
          <p:nvPr/>
        </p:nvSpPr>
        <p:spPr bwMode="auto">
          <a:xfrm>
            <a:off x="762002" y="1090613"/>
            <a:ext cx="7566025" cy="3877985"/>
          </a:xfrm>
          <a:prstGeom prst="rect">
            <a:avLst/>
          </a:prstGeom>
          <a:solidFill>
            <a:srgbClr val="002060">
              <a:alpha val="83000"/>
            </a:srgbClr>
          </a:solidFill>
          <a:ln w="127000">
            <a:solidFill>
              <a:schemeClr val="accent4">
                <a:shade val="50000"/>
              </a:schemeClr>
            </a:solidFill>
          </a:ln>
        </p:spPr>
        <p:txBody>
          <a:bodyPr lIns="91440" tIns="274320" bIns="2743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72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K</a:t>
            </a:r>
            <a:r>
              <a:rPr lang="sq-AL" altLang="en-US" sz="72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ËTO JANË KATEGORITË E PYETJEVE</a:t>
            </a:r>
            <a:endParaRPr lang="en-US" altLang="en-US" sz="72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36085"/>
      </p:ext>
    </p:extLst>
  </p:cSld>
  <p:clrMapOvr>
    <a:masterClrMapping/>
  </p:clrMapOvr>
  <p:transition advClick="0" advTm="0">
    <p:sndAc>
      <p:stSnd>
        <p:snd r:embed="rId3" name="30 Second Timer With Jeopardy Thinking Music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5"/>
          <p:cNvSpPr txBox="1">
            <a:spLocks noChangeArrowheads="1"/>
          </p:cNvSpPr>
          <p:nvPr/>
        </p:nvSpPr>
        <p:spPr bwMode="auto">
          <a:xfrm>
            <a:off x="838202" y="1914944"/>
            <a:ext cx="756602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PYETJE ME FIGURA</a:t>
            </a:r>
            <a:endParaRPr lang="en-US" altLang="en-US" sz="6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838202" y="1914944"/>
            <a:ext cx="756602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PYETJE ME ALTERNATIVA</a:t>
            </a:r>
            <a:endParaRPr lang="en-US" altLang="en-US" sz="6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838202" y="1407113"/>
            <a:ext cx="7566025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PYETJE ME PLOTËSIM TË FJALËVE</a:t>
            </a:r>
            <a:endParaRPr lang="en-US" altLang="en-US" sz="6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838202" y="1914944"/>
            <a:ext cx="756602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PYETJE ME SUGJERIME</a:t>
            </a:r>
            <a:endParaRPr lang="en-US" altLang="en-US" sz="6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7057F5E1-0770-2653-D8EC-1C01BBEBE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2" y="1914944"/>
            <a:ext cx="756602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PYETJE TË HAPURA</a:t>
            </a:r>
            <a:endParaRPr lang="en-US" altLang="en-US" sz="6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05DB45C7-44F9-A5FA-C785-3B56DC133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35169"/>
            <a:ext cx="7566025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PYETJE ME PËRGJIGJE       PO-JO</a:t>
            </a:r>
            <a:endParaRPr lang="en-US" altLang="en-US" sz="6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2"/>
          <p:cNvSpPr txBox="1">
            <a:spLocks noChangeArrowheads="1"/>
          </p:cNvSpPr>
          <p:nvPr/>
        </p:nvSpPr>
        <p:spPr bwMode="auto">
          <a:xfrm>
            <a:off x="701675" y="16097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Impact" pitchFamily="34" charset="0"/>
                <a:hlinkClick r:id="rId3" action="ppaction://hlinksldjump"/>
              </a:rPr>
              <a:t>$100</a:t>
            </a:r>
            <a:endParaRPr lang="en-US" altLang="en-US" sz="2800" b="1" dirty="0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68" name="Text Box 53"/>
          <p:cNvSpPr txBox="1">
            <a:spLocks noChangeArrowheads="1"/>
          </p:cNvSpPr>
          <p:nvPr/>
        </p:nvSpPr>
        <p:spPr bwMode="auto">
          <a:xfrm>
            <a:off x="3316290" y="16097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4" action="ppaction://hlinksldjump"/>
              </a:rPr>
              <a:t>$100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69" name="Text Box 58"/>
          <p:cNvSpPr txBox="1">
            <a:spLocks noChangeArrowheads="1"/>
          </p:cNvSpPr>
          <p:nvPr/>
        </p:nvSpPr>
        <p:spPr bwMode="auto">
          <a:xfrm>
            <a:off x="4648202" y="16097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5" action="ppaction://hlinksldjump"/>
              </a:rPr>
              <a:t>$100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0" name="Text Box 63"/>
          <p:cNvSpPr txBox="1">
            <a:spLocks noChangeArrowheads="1"/>
          </p:cNvSpPr>
          <p:nvPr/>
        </p:nvSpPr>
        <p:spPr bwMode="auto">
          <a:xfrm>
            <a:off x="5943602" y="16097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6" action="ppaction://hlinksldjump"/>
              </a:rPr>
              <a:t>$100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1" name="Text Box 69"/>
          <p:cNvSpPr txBox="1">
            <a:spLocks noChangeArrowheads="1"/>
          </p:cNvSpPr>
          <p:nvPr/>
        </p:nvSpPr>
        <p:spPr bwMode="auto">
          <a:xfrm>
            <a:off x="7315200" y="16097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Impact" pitchFamily="34" charset="0"/>
                <a:hlinkClick r:id="rId7" action="ppaction://hlinksldjump"/>
              </a:rPr>
              <a:t>$100</a:t>
            </a:r>
            <a:endParaRPr lang="en-US" altLang="en-US" sz="2800" b="1" dirty="0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2" name="Text Box 43"/>
          <p:cNvSpPr txBox="1">
            <a:spLocks noChangeArrowheads="1"/>
          </p:cNvSpPr>
          <p:nvPr/>
        </p:nvSpPr>
        <p:spPr bwMode="auto">
          <a:xfrm>
            <a:off x="701675" y="24479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8" action="ppaction://hlinksldjump"/>
              </a:rPr>
              <a:t>$200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3" name="Text Box 49"/>
          <p:cNvSpPr txBox="1">
            <a:spLocks noChangeArrowheads="1"/>
          </p:cNvSpPr>
          <p:nvPr/>
        </p:nvSpPr>
        <p:spPr bwMode="auto">
          <a:xfrm>
            <a:off x="2035177" y="24479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Impact" pitchFamily="34" charset="0"/>
                <a:hlinkClick r:id="rId9" action="ppaction://hlinksldjump"/>
              </a:rPr>
              <a:t>$200</a:t>
            </a:r>
            <a:endParaRPr lang="en-US" altLang="en-US" sz="2800" b="1" dirty="0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4" name="Text Box 54"/>
          <p:cNvSpPr txBox="1">
            <a:spLocks noChangeArrowheads="1"/>
          </p:cNvSpPr>
          <p:nvPr/>
        </p:nvSpPr>
        <p:spPr bwMode="auto">
          <a:xfrm>
            <a:off x="3317877" y="24479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0" action="ppaction://hlinksldjump"/>
              </a:rPr>
              <a:t>$200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5" name="Text Box 59"/>
          <p:cNvSpPr txBox="1">
            <a:spLocks noChangeArrowheads="1"/>
          </p:cNvSpPr>
          <p:nvPr/>
        </p:nvSpPr>
        <p:spPr bwMode="auto">
          <a:xfrm>
            <a:off x="4648202" y="24479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1" action="ppaction://hlinksldjump"/>
              </a:rPr>
              <a:t>$200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6" name="Text Box 64"/>
          <p:cNvSpPr txBox="1">
            <a:spLocks noChangeArrowheads="1"/>
          </p:cNvSpPr>
          <p:nvPr/>
        </p:nvSpPr>
        <p:spPr bwMode="auto">
          <a:xfrm>
            <a:off x="5943602" y="24479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2" action="ppaction://hlinksldjump"/>
              </a:rPr>
              <a:t>$200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7" name="Text Box 70"/>
          <p:cNvSpPr txBox="1">
            <a:spLocks noChangeArrowheads="1"/>
          </p:cNvSpPr>
          <p:nvPr/>
        </p:nvSpPr>
        <p:spPr bwMode="auto">
          <a:xfrm>
            <a:off x="7315200" y="244792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3" action="ppaction://hlinksldjump"/>
              </a:rPr>
              <a:t>$200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8" name="Text Box 44"/>
          <p:cNvSpPr txBox="1">
            <a:spLocks noChangeArrowheads="1"/>
          </p:cNvSpPr>
          <p:nvPr/>
        </p:nvSpPr>
        <p:spPr bwMode="auto">
          <a:xfrm>
            <a:off x="701675" y="321627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4" action="ppaction://hlinksldjump"/>
              </a:rPr>
              <a:t>$300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79" name="Text Box 50"/>
          <p:cNvSpPr txBox="1">
            <a:spLocks noChangeArrowheads="1"/>
          </p:cNvSpPr>
          <p:nvPr/>
        </p:nvSpPr>
        <p:spPr bwMode="auto">
          <a:xfrm>
            <a:off x="2035177" y="32131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5" action="ppaction://hlinksldjump"/>
              </a:rPr>
              <a:t>$300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0" name="Text Box 55"/>
          <p:cNvSpPr txBox="1">
            <a:spLocks noChangeArrowheads="1"/>
          </p:cNvSpPr>
          <p:nvPr/>
        </p:nvSpPr>
        <p:spPr bwMode="auto">
          <a:xfrm>
            <a:off x="3317877" y="32004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6" action="ppaction://hlinksldjump"/>
              </a:rPr>
              <a:t>$300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1" name="Text Box 60"/>
          <p:cNvSpPr txBox="1">
            <a:spLocks noChangeArrowheads="1"/>
          </p:cNvSpPr>
          <p:nvPr/>
        </p:nvSpPr>
        <p:spPr bwMode="auto">
          <a:xfrm>
            <a:off x="4648202" y="32131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7" action="ppaction://hlinksldjump"/>
              </a:rPr>
              <a:t>$300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2" name="Text Box 65"/>
          <p:cNvSpPr txBox="1">
            <a:spLocks noChangeArrowheads="1"/>
          </p:cNvSpPr>
          <p:nvPr/>
        </p:nvSpPr>
        <p:spPr bwMode="auto">
          <a:xfrm>
            <a:off x="5943602" y="32131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8" action="ppaction://hlinksldjump"/>
              </a:rPr>
              <a:t>$300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3" name="Text Box 71"/>
          <p:cNvSpPr txBox="1">
            <a:spLocks noChangeArrowheads="1"/>
          </p:cNvSpPr>
          <p:nvPr/>
        </p:nvSpPr>
        <p:spPr bwMode="auto">
          <a:xfrm>
            <a:off x="7315200" y="32131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19" action="ppaction://hlinksldjump"/>
              </a:rPr>
              <a:t>$300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4" name="Text Box 45"/>
          <p:cNvSpPr txBox="1">
            <a:spLocks noChangeArrowheads="1"/>
          </p:cNvSpPr>
          <p:nvPr/>
        </p:nvSpPr>
        <p:spPr bwMode="auto">
          <a:xfrm>
            <a:off x="701675" y="4048125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0" action="ppaction://hlinksldjump"/>
              </a:rPr>
              <a:t>$400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5" name="Text Box 51"/>
          <p:cNvSpPr txBox="1">
            <a:spLocks noChangeArrowheads="1"/>
          </p:cNvSpPr>
          <p:nvPr/>
        </p:nvSpPr>
        <p:spPr bwMode="auto">
          <a:xfrm>
            <a:off x="2035177" y="4044950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1" action="ppaction://hlinksldjump"/>
              </a:rPr>
              <a:t>$400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6" name="Text Box 56"/>
          <p:cNvSpPr txBox="1">
            <a:spLocks noChangeArrowheads="1"/>
          </p:cNvSpPr>
          <p:nvPr/>
        </p:nvSpPr>
        <p:spPr bwMode="auto">
          <a:xfrm>
            <a:off x="3317877" y="4044950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2" action="ppaction://hlinksldjump"/>
              </a:rPr>
              <a:t>$400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7" name="Text Box 61"/>
          <p:cNvSpPr txBox="1">
            <a:spLocks noChangeArrowheads="1"/>
          </p:cNvSpPr>
          <p:nvPr/>
        </p:nvSpPr>
        <p:spPr bwMode="auto">
          <a:xfrm>
            <a:off x="4648202" y="4044950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3" action="ppaction://hlinksldjump"/>
              </a:rPr>
              <a:t>$400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8" name="Text Box 66"/>
          <p:cNvSpPr txBox="1">
            <a:spLocks noChangeArrowheads="1"/>
          </p:cNvSpPr>
          <p:nvPr/>
        </p:nvSpPr>
        <p:spPr bwMode="auto">
          <a:xfrm>
            <a:off x="5943602" y="4044950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4" action="ppaction://hlinksldjump"/>
              </a:rPr>
              <a:t>$400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89" name="Text Box 72"/>
          <p:cNvSpPr txBox="1">
            <a:spLocks noChangeArrowheads="1"/>
          </p:cNvSpPr>
          <p:nvPr/>
        </p:nvSpPr>
        <p:spPr bwMode="auto">
          <a:xfrm>
            <a:off x="7315200" y="4044950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5" action="ppaction://hlinksldjump"/>
              </a:rPr>
              <a:t>$400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90" name="Text Box 46"/>
          <p:cNvSpPr txBox="1">
            <a:spLocks noChangeArrowheads="1"/>
          </p:cNvSpPr>
          <p:nvPr/>
        </p:nvSpPr>
        <p:spPr bwMode="auto">
          <a:xfrm>
            <a:off x="701675" y="4803777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6" action="ppaction://hlinksldjump"/>
              </a:rPr>
              <a:t>$500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91" name="Text Box 52"/>
          <p:cNvSpPr txBox="1">
            <a:spLocks noChangeArrowheads="1"/>
          </p:cNvSpPr>
          <p:nvPr/>
        </p:nvSpPr>
        <p:spPr bwMode="auto">
          <a:xfrm>
            <a:off x="2035177" y="48006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7" action="ppaction://hlinksldjump"/>
              </a:rPr>
              <a:t>$500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92" name="Text Box 57"/>
          <p:cNvSpPr txBox="1">
            <a:spLocks noChangeArrowheads="1"/>
          </p:cNvSpPr>
          <p:nvPr/>
        </p:nvSpPr>
        <p:spPr bwMode="auto">
          <a:xfrm>
            <a:off x="3317877" y="48006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8" action="ppaction://hlinksldjump"/>
              </a:rPr>
              <a:t>$500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93" name="Text Box 62"/>
          <p:cNvSpPr txBox="1">
            <a:spLocks noChangeArrowheads="1"/>
          </p:cNvSpPr>
          <p:nvPr/>
        </p:nvSpPr>
        <p:spPr bwMode="auto">
          <a:xfrm>
            <a:off x="4648202" y="48006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29" action="ppaction://hlinksldjump"/>
              </a:rPr>
              <a:t>$500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94" name="Text Box 67"/>
          <p:cNvSpPr txBox="1">
            <a:spLocks noChangeArrowheads="1"/>
          </p:cNvSpPr>
          <p:nvPr/>
        </p:nvSpPr>
        <p:spPr bwMode="auto">
          <a:xfrm>
            <a:off x="5943602" y="48006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Impact" pitchFamily="34" charset="0"/>
                <a:hlinkClick r:id="rId30" action="ppaction://hlinksldjump"/>
              </a:rPr>
              <a:t>$500</a:t>
            </a:r>
            <a:endParaRPr lang="en-US" altLang="en-US" sz="2800" b="1" dirty="0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11295" name="Text Box 73"/>
          <p:cNvSpPr txBox="1">
            <a:spLocks noChangeArrowheads="1"/>
          </p:cNvSpPr>
          <p:nvPr/>
        </p:nvSpPr>
        <p:spPr bwMode="auto">
          <a:xfrm>
            <a:off x="7315200" y="48006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Impact" pitchFamily="34" charset="0"/>
                <a:hlinkClick r:id="rId31" action="ppaction://hlinksldjump"/>
              </a:rPr>
              <a:t>$500</a:t>
            </a:r>
            <a:endParaRPr lang="en-US" altLang="en-US" sz="2800" b="1">
              <a:solidFill>
                <a:srgbClr val="000000"/>
              </a:solidFill>
              <a:latin typeface="Impact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778135"/>
            <a:ext cx="1166813" cy="461665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algn="ctr">
              <a:defRPr/>
            </a:pPr>
            <a:r>
              <a:rPr lang="sq-AL" sz="1200" b="1" kern="10" dirty="0">
                <a:solidFill>
                  <a:schemeClr val="bg1"/>
                </a:solidFill>
                <a:latin typeface="Arial Black"/>
              </a:rPr>
              <a:t>Pyetje me figura</a:t>
            </a:r>
            <a:endParaRPr lang="en-US" sz="1200" b="1" kern="10" dirty="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95502" y="778023"/>
            <a:ext cx="1165225" cy="461665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algn="ctr">
              <a:defRPr/>
            </a:pPr>
            <a:r>
              <a:rPr lang="sq-AL" sz="1200" b="1" kern="10" dirty="0">
                <a:solidFill>
                  <a:schemeClr val="bg1"/>
                </a:solidFill>
                <a:latin typeface="Arial Black"/>
              </a:rPr>
              <a:t>Pyetje me alternativa</a:t>
            </a:r>
            <a:endParaRPr lang="en-US" sz="1200" b="1" kern="10" dirty="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75027" y="685690"/>
            <a:ext cx="1166813" cy="646331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algn="ctr">
              <a:defRPr/>
            </a:pPr>
            <a:r>
              <a:rPr lang="sq-AL" sz="1200" b="1" kern="10" dirty="0">
                <a:solidFill>
                  <a:schemeClr val="bg1"/>
                </a:solidFill>
                <a:latin typeface="Arial Black"/>
              </a:rPr>
              <a:t>Pyetje me plotësim të fjalëve</a:t>
            </a:r>
            <a:endParaRPr lang="en-US" sz="1200" b="1" kern="10" dirty="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54552" y="778023"/>
            <a:ext cx="1166813" cy="461665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algn="ctr">
              <a:defRPr/>
            </a:pPr>
            <a:r>
              <a:rPr lang="sq-AL" sz="1200" b="1" kern="10" dirty="0">
                <a:solidFill>
                  <a:schemeClr val="bg1"/>
                </a:solidFill>
                <a:latin typeface="Arial Black"/>
              </a:rPr>
              <a:t>Pyetje me sugjerime</a:t>
            </a:r>
            <a:endParaRPr lang="en-US" sz="1200" b="1" kern="10" dirty="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95988" y="778023"/>
            <a:ext cx="1166812" cy="461665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algn="ctr">
              <a:defRPr/>
            </a:pPr>
            <a:r>
              <a:rPr lang="sq-AL" sz="1200" b="1" kern="10" dirty="0">
                <a:solidFill>
                  <a:schemeClr val="bg1"/>
                </a:solidFill>
                <a:latin typeface="Arial Black"/>
              </a:rPr>
              <a:t>Pyetje të hapura</a:t>
            </a:r>
            <a:endParaRPr lang="en-US" sz="1200" b="1" kern="10" dirty="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351711" y="685690"/>
            <a:ext cx="1166812" cy="646331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algn="ctr">
              <a:defRPr/>
            </a:pPr>
            <a:r>
              <a:rPr lang="sq-AL" sz="1200" b="1" kern="10" dirty="0">
                <a:solidFill>
                  <a:schemeClr val="bg1"/>
                </a:solidFill>
                <a:latin typeface="Arial Black"/>
              </a:rPr>
              <a:t>Pyetje me përgjigje PO_JO</a:t>
            </a:r>
            <a:endParaRPr lang="en-US" sz="1200" b="1" kern="10" dirty="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11302" name="TextBox 1"/>
          <p:cNvSpPr txBox="1">
            <a:spLocks noChangeArrowheads="1"/>
          </p:cNvSpPr>
          <p:nvPr/>
        </p:nvSpPr>
        <p:spPr bwMode="auto">
          <a:xfrm>
            <a:off x="7514347" y="5545368"/>
            <a:ext cx="8050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b="1" dirty="0">
                <a:solidFill>
                  <a:schemeClr val="bg1"/>
                </a:solidFill>
                <a:latin typeface="Arial Narrow" pitchFamily="34" charset="0"/>
                <a:cs typeface="Arial" charset="0"/>
              </a:rPr>
              <a:t>FINAL</a:t>
            </a:r>
            <a:r>
              <a:rPr lang="sq-AL" altLang="en-US" sz="1400" b="1" dirty="0">
                <a:solidFill>
                  <a:schemeClr val="bg1"/>
                </a:solidFill>
                <a:latin typeface="Arial Narrow" pitchFamily="34" charset="0"/>
                <a:cs typeface="Arial" charset="0"/>
              </a:rPr>
              <a:t>JA</a:t>
            </a:r>
            <a:endParaRPr lang="en-US" altLang="en-US" sz="1400" b="1" dirty="0">
              <a:solidFill>
                <a:schemeClr val="bg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2035177" y="1600202"/>
            <a:ext cx="1203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Impact" pitchFamily="34" charset="0"/>
                <a:hlinkClick r:id="rId32" action="ppaction://hlinksldjump"/>
              </a:rPr>
              <a:t>$100</a:t>
            </a:r>
            <a:endParaRPr lang="en-US" altLang="en-US" sz="2800" b="1" dirty="0">
              <a:solidFill>
                <a:srgbClr val="000000"/>
              </a:solidFill>
              <a:latin typeface="Impact" pitchFamily="34" charset="0"/>
            </a:endParaRPr>
          </a:p>
        </p:txBody>
      </p:sp>
    </p:spTree>
  </p:cSld>
  <p:clrMapOvr>
    <a:masterClrMapping/>
  </p:clrMapOvr>
  <p:transition spd="slow" advClick="0"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7ADA0-3BC4-4526-9E51-F14B93B80C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2800" y="1498990"/>
            <a:ext cx="4953000" cy="3293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C4BB95-3F9D-4EF3-AA96-AC5363B56EFE}"/>
              </a:ext>
            </a:extLst>
          </p:cNvPr>
          <p:cNvSpPr txBox="1"/>
          <p:nvPr/>
        </p:nvSpPr>
        <p:spPr bwMode="auto">
          <a:xfrm>
            <a:off x="685800" y="1772215"/>
            <a:ext cx="25146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sq-AL" sz="28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 cilin ekosistem bëhet fjalë në figurë: ...................</a:t>
            </a:r>
            <a:endParaRPr lang="sq-XK" sz="28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5"/>
          <p:cNvSpPr txBox="1">
            <a:spLocks noChangeArrowheads="1"/>
          </p:cNvSpPr>
          <p:nvPr/>
        </p:nvSpPr>
        <p:spPr bwMode="auto">
          <a:xfrm>
            <a:off x="815977" y="2447329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Kënetat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140EFF-DB46-460E-A846-1DFC9E185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1520530"/>
            <a:ext cx="5080000" cy="38169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BD6378-4925-464A-BC76-8F873582AE98}"/>
              </a:ext>
            </a:extLst>
          </p:cNvPr>
          <p:cNvSpPr txBox="1"/>
          <p:nvPr/>
        </p:nvSpPr>
        <p:spPr bwMode="auto">
          <a:xfrm>
            <a:off x="838200" y="533400"/>
            <a:ext cx="75438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Cil</a:t>
            </a:r>
            <a:r>
              <a:rPr lang="sq-AL" sz="32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a zonë e liqenit është paraqitur në foto ?</a:t>
            </a:r>
            <a:endParaRPr lang="sq-XK" sz="32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5"/>
          <p:cNvSpPr txBox="1">
            <a:spLocks noChangeArrowheads="1"/>
          </p:cNvSpPr>
          <p:nvPr/>
        </p:nvSpPr>
        <p:spPr bwMode="auto">
          <a:xfrm>
            <a:off x="815977" y="1909437"/>
            <a:ext cx="75660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Zona litorale e liqenit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C80A6D-7D41-4736-9D30-09FBC23B804A}"/>
              </a:ext>
            </a:extLst>
          </p:cNvPr>
          <p:cNvSpPr txBox="1"/>
          <p:nvPr/>
        </p:nvSpPr>
        <p:spPr bwMode="auto">
          <a:xfrm>
            <a:off x="533400" y="591979"/>
            <a:ext cx="798898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sq-AL" sz="32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 cilën zonë të lumit bëhet fjalë në foto. </a:t>
            </a:r>
            <a:endParaRPr lang="sq-XK" sz="32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6C9C7D-9B0F-095C-5450-7B49B3C3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6601" y="1655916"/>
            <a:ext cx="5245788" cy="3497192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5"/>
          <p:cNvSpPr txBox="1">
            <a:spLocks noChangeArrowheads="1"/>
          </p:cNvSpPr>
          <p:nvPr/>
        </p:nvSpPr>
        <p:spPr bwMode="auto">
          <a:xfrm>
            <a:off x="815977" y="1447772"/>
            <a:ext cx="75660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Zonën e sipërme të lumit apo përroin malor.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F1A46-19D1-4CE4-966F-9E13A1FD6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48207" y="1149486"/>
            <a:ext cx="5312295" cy="4366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1D0461-435D-4C24-B456-26BEBB435065}"/>
              </a:ext>
            </a:extLst>
          </p:cNvPr>
          <p:cNvSpPr txBox="1"/>
          <p:nvPr/>
        </p:nvSpPr>
        <p:spPr bwMode="auto">
          <a:xfrm>
            <a:off x="0" y="458806"/>
            <a:ext cx="8915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sq-AL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Cili nga pyjet dallohet në foto?</a:t>
            </a:r>
            <a:endParaRPr lang="sq-XK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5"/>
          <p:cNvSpPr txBox="1">
            <a:spLocks noChangeArrowheads="1"/>
          </p:cNvSpPr>
          <p:nvPr/>
        </p:nvSpPr>
        <p:spPr bwMode="auto">
          <a:xfrm>
            <a:off x="815977" y="1909437"/>
            <a:ext cx="75660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halore-tajgat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F4C9A7-ECA2-4967-BD9B-0CE4D188E0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00" y="1866900"/>
            <a:ext cx="4724400" cy="3543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C6E977-627C-4387-81B8-E1637B493B0E}"/>
              </a:ext>
            </a:extLst>
          </p:cNvPr>
          <p:cNvSpPr txBox="1"/>
          <p:nvPr/>
        </p:nvSpPr>
        <p:spPr bwMode="auto">
          <a:xfrm>
            <a:off x="701919" y="543461"/>
            <a:ext cx="819736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sq-AL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Në cilat pyje jeton kjo kafshë</a:t>
            </a:r>
            <a:endParaRPr lang="sq-XK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ECBA7153-D646-45E1-8582-A074F52EC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7" y="2371101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tropikale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172A9B-8AB5-4AAA-B468-C6D79C17691B}"/>
              </a:ext>
            </a:extLst>
          </p:cNvPr>
          <p:cNvSpPr txBox="1"/>
          <p:nvPr/>
        </p:nvSpPr>
        <p:spPr bwMode="auto">
          <a:xfrm>
            <a:off x="665843" y="408802"/>
            <a:ext cx="7812314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Disa ekosisteme të ngjashme formojnë kategorinë e quajtur:</a:t>
            </a:r>
          </a:p>
          <a:p>
            <a:pPr>
              <a:spcBef>
                <a:spcPct val="0"/>
              </a:spcBef>
              <a:buFontTx/>
              <a:buNone/>
            </a:pPr>
            <a:endParaRPr lang="sq-AL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sq-AL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 marL="742950" indent="-742950">
              <a:spcBef>
                <a:spcPct val="0"/>
              </a:spcBef>
              <a:buFontTx/>
              <a:buAutoNum type="alphaLcParenR"/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Biotop</a:t>
            </a:r>
          </a:p>
          <a:p>
            <a:pPr>
              <a:spcBef>
                <a:spcPct val="0"/>
              </a:spcBef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b)  Biom</a:t>
            </a:r>
          </a:p>
          <a:p>
            <a:pPr>
              <a:spcBef>
                <a:spcPct val="0"/>
              </a:spcBef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c)  Biocenozë</a:t>
            </a:r>
            <a:endParaRPr lang="sq-XK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8C1580E4-CEC8-46B8-B353-A874BB8F4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Biom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2367F-C2D1-4C8F-8808-5A38BB6EE7A9}"/>
              </a:ext>
            </a:extLst>
          </p:cNvPr>
          <p:cNvSpPr txBox="1"/>
          <p:nvPr/>
        </p:nvSpPr>
        <p:spPr bwMode="auto">
          <a:xfrm>
            <a:off x="762000" y="1038999"/>
            <a:ext cx="77724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 anchorCtr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Dallohen biomet:</a:t>
            </a:r>
          </a:p>
          <a:p>
            <a:pPr>
              <a:spcBef>
                <a:spcPct val="0"/>
              </a:spcBef>
              <a:buFontTx/>
              <a:buNone/>
            </a:pPr>
            <a:endParaRPr lang="sq-AL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sq-AL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>
              <a:spcBef>
                <a:spcPct val="0"/>
              </a:spcBef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a)  Ujore dhe tokësore</a:t>
            </a:r>
          </a:p>
          <a:p>
            <a:pPr>
              <a:spcBef>
                <a:spcPct val="0"/>
              </a:spcBef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b)  Ujore, tokësore dhe ajrore</a:t>
            </a:r>
          </a:p>
          <a:p>
            <a:pPr>
              <a:spcBef>
                <a:spcPct val="0"/>
              </a:spcBef>
            </a:pPr>
            <a:r>
              <a:rPr lang="sq-AL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c)  Tokësore</a:t>
            </a:r>
            <a:endParaRPr lang="sq-XK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5"/>
          <p:cNvSpPr txBox="1">
            <a:spLocks noChangeArrowheads="1"/>
          </p:cNvSpPr>
          <p:nvPr/>
        </p:nvSpPr>
        <p:spPr bwMode="auto">
          <a:xfrm>
            <a:off x="815977" y="1601662"/>
            <a:ext cx="75660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8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a) Ujore dhe tokësore</a:t>
            </a:r>
            <a:endParaRPr lang="en-US" altLang="en-US" sz="8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5"/>
          <p:cNvSpPr txBox="1">
            <a:spLocks noChangeArrowheads="1"/>
          </p:cNvSpPr>
          <p:nvPr/>
        </p:nvSpPr>
        <p:spPr bwMode="auto">
          <a:xfrm>
            <a:off x="381000" y="701932"/>
            <a:ext cx="80994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Në cilën zonë të liqenit zhvillohen bimët që rrënjosen: shavari, kallamishtja etj.</a:t>
            </a:r>
          </a:p>
          <a:p>
            <a:pPr>
              <a:spcBef>
                <a:spcPct val="0"/>
              </a:spcBef>
              <a:buFontTx/>
              <a:buNone/>
            </a:pPr>
            <a:endParaRPr lang="sq-AL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a)  Limnetike</a:t>
            </a:r>
          </a:p>
          <a:p>
            <a:pPr>
              <a:spcBef>
                <a:spcPct val="0"/>
              </a:spcBef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b)  Bentale</a:t>
            </a:r>
          </a:p>
          <a:p>
            <a:pPr>
              <a:spcBef>
                <a:spcPct val="0"/>
              </a:spcBef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c)  Litorale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5"/>
          <p:cNvSpPr txBox="1">
            <a:spLocks noChangeArrowheads="1"/>
          </p:cNvSpPr>
          <p:nvPr/>
        </p:nvSpPr>
        <p:spPr bwMode="auto">
          <a:xfrm>
            <a:off x="815977" y="2371101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c) Litorale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5"/>
          <p:cNvSpPr txBox="1">
            <a:spLocks noChangeArrowheads="1"/>
          </p:cNvSpPr>
          <p:nvPr/>
        </p:nvSpPr>
        <p:spPr bwMode="auto">
          <a:xfrm>
            <a:off x="609601" y="1170772"/>
            <a:ext cx="7772402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 err="1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Cil</a:t>
            </a: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at nga këto lloje drunore jetojnë në pyjet gjethërënëse?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sq-AL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 marL="742950" indent="-742950">
              <a:spcBef>
                <a:spcPct val="0"/>
              </a:spcBef>
              <a:buFontTx/>
              <a:buAutoNum type="alphaLcParenR"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Arneni</a:t>
            </a:r>
          </a:p>
          <a:p>
            <a:pPr marL="742950" indent="-742950">
              <a:spcBef>
                <a:spcPct val="0"/>
              </a:spcBef>
              <a:buFontTx/>
              <a:buAutoNum type="alphaLcParenR"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Dushku</a:t>
            </a:r>
          </a:p>
          <a:p>
            <a:pPr marL="742950" indent="-742950">
              <a:spcBef>
                <a:spcPct val="0"/>
              </a:spcBef>
              <a:buFontTx/>
              <a:buAutoNum type="alphaLcParenR"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Lijanet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5"/>
          <p:cNvSpPr txBox="1">
            <a:spLocks noChangeArrowheads="1"/>
          </p:cNvSpPr>
          <p:nvPr/>
        </p:nvSpPr>
        <p:spPr bwMode="auto">
          <a:xfrm>
            <a:off x="815977" y="2371101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b) Dushku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5"/>
          <p:cNvSpPr txBox="1">
            <a:spLocks noChangeArrowheads="1"/>
          </p:cNvSpPr>
          <p:nvPr/>
        </p:nvSpPr>
        <p:spPr bwMode="auto">
          <a:xfrm>
            <a:off x="609599" y="990600"/>
            <a:ext cx="792480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Sa përqind e hapësirës së Kosovës përbëhet nga pyjet halore dhe gjethërënëse:</a:t>
            </a:r>
          </a:p>
          <a:p>
            <a:pPr marL="1143000" indent="-1143000">
              <a:spcBef>
                <a:spcPct val="0"/>
              </a:spcBef>
              <a:buFontTx/>
              <a:buAutoNum type="alphaLcParenR"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20%</a:t>
            </a:r>
          </a:p>
          <a:p>
            <a:pPr marL="1143000" indent="-1143000">
              <a:spcBef>
                <a:spcPct val="0"/>
              </a:spcBef>
              <a:buFontTx/>
              <a:buAutoNum type="alphaLcParenR"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64%</a:t>
            </a:r>
          </a:p>
          <a:p>
            <a:pPr marL="1143000" indent="-1143000">
              <a:spcBef>
                <a:spcPct val="0"/>
              </a:spcBef>
              <a:buFontTx/>
              <a:buAutoNum type="alphaLcParenR"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42%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5"/>
          <p:cNvSpPr txBox="1">
            <a:spLocks noChangeArrowheads="1"/>
          </p:cNvSpPr>
          <p:nvPr/>
        </p:nvSpPr>
        <p:spPr bwMode="auto">
          <a:xfrm>
            <a:off x="609599" y="2006262"/>
            <a:ext cx="792480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sq-AL" altLang="en-US" sz="54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 algn="ctr">
              <a:spcBef>
                <a:spcPct val="0"/>
              </a:spcBef>
              <a:buNone/>
            </a:pPr>
            <a:r>
              <a:rPr lang="sq-AL" altLang="en-US" sz="54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c) 42%</a:t>
            </a:r>
            <a:endParaRPr lang="en-US" altLang="en-US" sz="54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768343"/>
      </p:ext>
    </p:extLst>
  </p:cSld>
  <p:clrMapOvr>
    <a:masterClrMapping/>
  </p:clrMapOvr>
  <p:transition spd="slow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5"/>
          <p:cNvSpPr txBox="1">
            <a:spLocks noChangeArrowheads="1"/>
          </p:cNvSpPr>
          <p:nvPr/>
        </p:nvSpPr>
        <p:spPr bwMode="auto">
          <a:xfrm>
            <a:off x="788987" y="2161401"/>
            <a:ext cx="75660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Ekosistemet ujore në planetin tokë grupohen në: ____________ e ujrave të ëmbla dhe ________________ e deteve dhe oqeaneve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973E5-C563-003B-C3A8-6B63198988D0}"/>
              </a:ext>
            </a:extLst>
          </p:cNvPr>
          <p:cNvSpPr/>
          <p:nvPr/>
        </p:nvSpPr>
        <p:spPr bwMode="auto">
          <a:xfrm>
            <a:off x="685799" y="457200"/>
            <a:ext cx="7772400" cy="15240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q-AL" sz="4400" b="1" dirty="0">
                <a:solidFill>
                  <a:schemeClr val="bg1"/>
                </a:solidFill>
              </a:rPr>
              <a:t>Cilat shprehje mungojnë në fjalinë e më poshtme:</a:t>
            </a:r>
            <a:r>
              <a:rPr kumimoji="0" lang="sq-AL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</a:rPr>
              <a:t> </a:t>
            </a:r>
            <a:endParaRPr kumimoji="0" lang="sq-XK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5"/>
          <p:cNvSpPr txBox="1">
            <a:spLocks noChangeArrowheads="1"/>
          </p:cNvSpPr>
          <p:nvPr/>
        </p:nvSpPr>
        <p:spPr bwMode="auto">
          <a:xfrm>
            <a:off x="815977" y="1909437"/>
            <a:ext cx="75660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1 ekosistemet,   2 ekosistemet.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5"/>
          <p:cNvSpPr txBox="1">
            <a:spLocks noChangeArrowheads="1"/>
          </p:cNvSpPr>
          <p:nvPr/>
        </p:nvSpPr>
        <p:spPr bwMode="auto">
          <a:xfrm>
            <a:off x="571500" y="1239798"/>
            <a:ext cx="800099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Thuaj tri zonat e liqenit: _________________, ____________, _______________ 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5"/>
          <p:cNvSpPr txBox="1">
            <a:spLocks noChangeArrowheads="1"/>
          </p:cNvSpPr>
          <p:nvPr/>
        </p:nvSpPr>
        <p:spPr bwMode="auto">
          <a:xfrm>
            <a:off x="914400" y="1367135"/>
            <a:ext cx="75660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Litorale, limnetike, bentale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D7F042-3A72-7B78-A353-1BDE845E7725}"/>
              </a:ext>
            </a:extLst>
          </p:cNvPr>
          <p:cNvSpPr/>
          <p:nvPr/>
        </p:nvSpPr>
        <p:spPr bwMode="auto">
          <a:xfrm>
            <a:off x="5486400" y="2645896"/>
            <a:ext cx="457200" cy="533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q-XK" sz="4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5"/>
          <p:cNvSpPr txBox="1">
            <a:spLocks noChangeArrowheads="1"/>
          </p:cNvSpPr>
          <p:nvPr/>
        </p:nvSpPr>
        <p:spPr bwMode="auto">
          <a:xfrm>
            <a:off x="788987" y="630197"/>
            <a:ext cx="756602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Plotëso fjalitë me shprehjet përkatëse.</a:t>
            </a:r>
          </a:p>
          <a:p>
            <a:pPr>
              <a:spcBef>
                <a:spcPct val="0"/>
              </a:spcBef>
              <a:buFontTx/>
              <a:buNone/>
            </a:pPr>
            <a:endParaRPr lang="sq-AL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halore njihen edhe me emrin _________ dhe cilësohen me gjethe në formë të __________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5"/>
          <p:cNvSpPr txBox="1">
            <a:spLocks noChangeArrowheads="1"/>
          </p:cNvSpPr>
          <p:nvPr/>
        </p:nvSpPr>
        <p:spPr bwMode="auto">
          <a:xfrm>
            <a:off x="815977" y="2217214"/>
            <a:ext cx="75660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1- Tajga                                2- halave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5"/>
          <p:cNvSpPr txBox="1">
            <a:spLocks noChangeArrowheads="1"/>
          </p:cNvSpPr>
          <p:nvPr/>
        </p:nvSpPr>
        <p:spPr bwMode="auto">
          <a:xfrm>
            <a:off x="815977" y="1601661"/>
            <a:ext cx="75660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tropikale shtrihen në të dy____________________, llogaritet se këto _________ përmbajnë rreth _____ të gjtha llojeve bimore dhe shtazore që gjenden në planet.</a:t>
            </a:r>
            <a:endParaRPr lang="en-US" altLang="en-US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5"/>
          <p:cNvSpPr txBox="1">
            <a:spLocks noChangeArrowheads="1"/>
          </p:cNvSpPr>
          <p:nvPr/>
        </p:nvSpPr>
        <p:spPr bwMode="auto">
          <a:xfrm>
            <a:off x="815977" y="1909438"/>
            <a:ext cx="75660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1- anët e ekuatorit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2- pyje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3- 80%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>
            <a:spLocks noChangeArrowheads="1"/>
          </p:cNvSpPr>
          <p:nvPr/>
        </p:nvSpPr>
        <p:spPr bwMode="auto">
          <a:xfrm>
            <a:off x="815977" y="1724771"/>
            <a:ext cx="75660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gjethëtrasha (përherë të gjelbra) janë të përhapura në zonat ______________ ku dominon klima ______________.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5"/>
          <p:cNvSpPr txBox="1">
            <a:spLocks noChangeArrowheads="1"/>
          </p:cNvSpPr>
          <p:nvPr/>
        </p:nvSpPr>
        <p:spPr bwMode="auto">
          <a:xfrm>
            <a:off x="815977" y="2217214"/>
            <a:ext cx="75660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1- bregdetare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2- mesdhetare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5"/>
          <p:cNvSpPr txBox="1">
            <a:spLocks noChangeArrowheads="1"/>
          </p:cNvSpPr>
          <p:nvPr/>
        </p:nvSpPr>
        <p:spPr bwMode="auto">
          <a:xfrm>
            <a:off x="788987" y="1033019"/>
            <a:ext cx="75660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Përshkrimi:» e përbëjnë ekosistemet e ujrave rrjedhëse (përrenjtë dhe lumenjtë), dhe ekosistemet e ujrave të ndenjura (liqenet, moqalet, kënetat dhe ligatinat) vlen për B............................................</a:t>
            </a:r>
            <a:endParaRPr lang="en-US" altLang="en-US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5"/>
          <p:cNvSpPr txBox="1">
            <a:spLocks noChangeArrowheads="1"/>
          </p:cNvSpPr>
          <p:nvPr/>
        </p:nvSpPr>
        <p:spPr bwMode="auto">
          <a:xfrm>
            <a:off x="815977" y="2524990"/>
            <a:ext cx="75660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Biomet e ujërave të ëmbël 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Box 5"/>
          <p:cNvSpPr txBox="1">
            <a:spLocks noChangeArrowheads="1"/>
          </p:cNvSpPr>
          <p:nvPr/>
        </p:nvSpPr>
        <p:spPr bwMode="auto">
          <a:xfrm>
            <a:off x="815977" y="1724772"/>
            <a:ext cx="75660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.............................. Paraqesin ekosistemet më të mëdha në planet dhe zënë rreth 70% të sipërfaqes së tokës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5"/>
          <p:cNvSpPr txBox="1">
            <a:spLocks noChangeArrowheads="1"/>
          </p:cNvSpPr>
          <p:nvPr/>
        </p:nvSpPr>
        <p:spPr bwMode="auto">
          <a:xfrm>
            <a:off x="815977" y="1909438"/>
            <a:ext cx="75660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Biomet detare dhe oqeanike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5"/>
          <p:cNvSpPr txBox="1">
            <a:spLocks noChangeArrowheads="1"/>
          </p:cNvSpPr>
          <p:nvPr/>
        </p:nvSpPr>
        <p:spPr bwMode="auto">
          <a:xfrm>
            <a:off x="815977" y="1447773"/>
            <a:ext cx="75660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Kur themi se: cilësohen me gjethe në formë të halave prej nga e kanë marrë edhe emrin, atëherë mendojmë për ..........................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halore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5"/>
          <p:cNvSpPr txBox="1">
            <a:spLocks noChangeArrowheads="1"/>
          </p:cNvSpPr>
          <p:nvPr/>
        </p:nvSpPr>
        <p:spPr bwMode="auto">
          <a:xfrm>
            <a:off x="815977" y="862999"/>
            <a:ext cx="7566025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 kë bëhet fjalë në fjalinë e mëposhtme: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Në këtë zonë rrezet e diellit bien direkt në tokë gjatë gjithë vitit, për këtë arsye temperatura është e lartë (25-27 gradë) si dhe zona karakterizohet me sasi të mëdha të reshjeve.</a:t>
            </a:r>
            <a:endParaRPr lang="en-US" altLang="en-US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Box 5"/>
          <p:cNvSpPr txBox="1">
            <a:spLocks noChangeArrowheads="1"/>
          </p:cNvSpPr>
          <p:nvPr/>
        </p:nvSpPr>
        <p:spPr bwMode="auto">
          <a:xfrm>
            <a:off x="815977" y="2524989"/>
            <a:ext cx="75660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tropikale të shiut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5"/>
          <p:cNvSpPr txBox="1">
            <a:spLocks noChangeArrowheads="1"/>
          </p:cNvSpPr>
          <p:nvPr/>
        </p:nvSpPr>
        <p:spPr bwMode="auto">
          <a:xfrm>
            <a:off x="815977" y="2340326"/>
            <a:ext cx="75660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Banorë të kujt janë: Marmosi, pitoni, kolibri, tarantula etj.</a:t>
            </a:r>
            <a:endParaRPr lang="en-US" altLang="en-US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Pyjeve tropikale 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5"/>
          <p:cNvSpPr txBox="1">
            <a:spLocks noChangeArrowheads="1"/>
          </p:cNvSpPr>
          <p:nvPr/>
        </p:nvSpPr>
        <p:spPr bwMode="auto">
          <a:xfrm>
            <a:off x="815977" y="1601662"/>
            <a:ext cx="75660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Përshkruaj me pak fjalë kushtet jetësore të zonave ku dominojnë pyjet halore.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5"/>
          <p:cNvSpPr txBox="1">
            <a:spLocks noChangeArrowheads="1"/>
          </p:cNvSpPr>
          <p:nvPr/>
        </p:nvSpPr>
        <p:spPr bwMode="auto">
          <a:xfrm>
            <a:off x="815977" y="1601662"/>
            <a:ext cx="75660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Shtrihen në zonat me klimë të ftoftë (dimra të gjatë dhe të ashpër dhe vera të shkurtra)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5"/>
          <p:cNvSpPr txBox="1">
            <a:spLocks noChangeArrowheads="1"/>
          </p:cNvSpPr>
          <p:nvPr/>
        </p:nvSpPr>
        <p:spPr bwMode="auto">
          <a:xfrm>
            <a:off x="815977" y="2217214"/>
            <a:ext cx="75660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Përshkruaj pyjet gjethërënëse 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Box 5"/>
          <p:cNvSpPr txBox="1">
            <a:spLocks noChangeArrowheads="1"/>
          </p:cNvSpPr>
          <p:nvPr/>
        </p:nvSpPr>
        <p:spPr bwMode="auto">
          <a:xfrm>
            <a:off x="815977" y="1109221"/>
            <a:ext cx="75660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Quhen kështu sepse u bien gjethet gjatë periudhës vjeshtë dimër. Kryesisht shtrihen në hemisferën veriore në zonat me klimë mesatare. Ndër llojet drunore më të përhapura janë ahu dhe dushku.</a:t>
            </a:r>
            <a:endParaRPr lang="en-US" altLang="en-US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5"/>
          <p:cNvSpPr txBox="1">
            <a:spLocks noChangeArrowheads="1"/>
          </p:cNvSpPr>
          <p:nvPr/>
        </p:nvSpPr>
        <p:spPr bwMode="auto">
          <a:xfrm>
            <a:off x="815977" y="2524990"/>
            <a:ext cx="75660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Përshkruaj pyjet tropikale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5"/>
          <p:cNvSpPr txBox="1">
            <a:spLocks noChangeArrowheads="1"/>
          </p:cNvSpPr>
          <p:nvPr/>
        </p:nvSpPr>
        <p:spPr bwMode="auto">
          <a:xfrm>
            <a:off x="815977" y="893774"/>
            <a:ext cx="75660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Shtrihen nga të dy anët e ekuatorit dhe janë të njohura me temperatura të volitshme si dhe reshje të shumëta që mundësojnë kushte  shumë të mira për zhvillimin e botës së gjallë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5"/>
          <p:cNvSpPr txBox="1">
            <a:spLocks noChangeArrowheads="1"/>
          </p:cNvSpPr>
          <p:nvPr/>
        </p:nvSpPr>
        <p:spPr bwMode="auto">
          <a:xfrm>
            <a:off x="815977" y="2555767"/>
            <a:ext cx="7566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Krahaso biomet pyjore</a:t>
            </a:r>
            <a:endParaRPr lang="en-US" altLang="en-US" sz="36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Box 5"/>
          <p:cNvSpPr txBox="1">
            <a:spLocks noChangeArrowheads="1"/>
          </p:cNvSpPr>
          <p:nvPr/>
        </p:nvSpPr>
        <p:spPr bwMode="auto">
          <a:xfrm>
            <a:off x="815977" y="1847881"/>
            <a:ext cx="756602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Dallimi kryesor në mes tyre qëndron te faktorët e ndryshëm klimatik pozitën gjeografike që e kanë, përhapjen etj.</a:t>
            </a:r>
            <a:endParaRPr lang="en-US" altLang="en-US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Box 5"/>
          <p:cNvSpPr txBox="1">
            <a:spLocks noChangeArrowheads="1"/>
          </p:cNvSpPr>
          <p:nvPr/>
        </p:nvSpPr>
        <p:spPr bwMode="auto">
          <a:xfrm>
            <a:off x="815977" y="2524990"/>
            <a:ext cx="75660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Përshkruaj stelën.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Box 5"/>
          <p:cNvSpPr txBox="1">
            <a:spLocks noChangeArrowheads="1"/>
          </p:cNvSpPr>
          <p:nvPr/>
        </p:nvSpPr>
        <p:spPr bwMode="auto">
          <a:xfrm>
            <a:off x="815977" y="893776"/>
            <a:ext cx="75660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28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Stelën e formojnë gjethet e rëna, degët e thata dhe mbetjet e shtazëve të ngordhura. Me këto ushqehen krimbat e tokës, qindëkëmbëshat, akrepat etj. si dhe bakteret dhe kërpudhat që e zbërthejnë deri në kripëra minerale. Stela ka rëndësi edhe për ruajtjen e temperaturës, dhe lagështisë së tokës.</a:t>
            </a:r>
            <a:endParaRPr lang="en-US" altLang="en-US" sz="28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5"/>
          <p:cNvSpPr txBox="1">
            <a:spLocks noChangeArrowheads="1"/>
          </p:cNvSpPr>
          <p:nvPr/>
        </p:nvSpPr>
        <p:spPr bwMode="auto">
          <a:xfrm>
            <a:off x="815977" y="2278768"/>
            <a:ext cx="75660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36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Mbipeshkimi dëmton shumë rrjetën e zingjirit ushqimorë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D07E9B-783C-4894-2276-DA96A339D878}"/>
              </a:ext>
            </a:extLst>
          </p:cNvPr>
          <p:cNvSpPr/>
          <p:nvPr/>
        </p:nvSpPr>
        <p:spPr bwMode="auto">
          <a:xfrm>
            <a:off x="1295400" y="685800"/>
            <a:ext cx="6553200" cy="120032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 janë këto pohime të vërteta: PO ose JO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PO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Box 5"/>
          <p:cNvSpPr txBox="1">
            <a:spLocks noChangeArrowheads="1"/>
          </p:cNvSpPr>
          <p:nvPr/>
        </p:nvSpPr>
        <p:spPr bwMode="auto">
          <a:xfrm>
            <a:off x="788987" y="2209800"/>
            <a:ext cx="75660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Si pasojë e ndotjes së ujit, llojet bimore dhe shtazore nuk rrezikojnë të zhduken 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B19D6F-BE9D-6BD8-A8BD-361722E79C30}"/>
              </a:ext>
            </a:extLst>
          </p:cNvPr>
          <p:cNvSpPr/>
          <p:nvPr/>
        </p:nvSpPr>
        <p:spPr bwMode="auto">
          <a:xfrm>
            <a:off x="1295400" y="685800"/>
            <a:ext cx="6553200" cy="120032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 janë këto pohime të vërteta: PO ose JO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JO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5"/>
          <p:cNvSpPr txBox="1">
            <a:spLocks noChangeArrowheads="1"/>
          </p:cNvSpPr>
          <p:nvPr/>
        </p:nvSpPr>
        <p:spPr bwMode="auto">
          <a:xfrm>
            <a:off x="1290484" y="1981200"/>
            <a:ext cx="756602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Sipërfaqet më të mëdha të pyjeve halore dhe gjethërënëse në Kosovë ndodhen në sharr dhe bjeshkët e nemuna, </a:t>
            </a:r>
            <a:endParaRPr lang="en-US" altLang="en-US" sz="4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1E95D-CF62-F974-77B5-2F7C5B4BF94C}"/>
              </a:ext>
            </a:extLst>
          </p:cNvPr>
          <p:cNvSpPr/>
          <p:nvPr/>
        </p:nvSpPr>
        <p:spPr bwMode="auto">
          <a:xfrm>
            <a:off x="1295400" y="685800"/>
            <a:ext cx="6553200" cy="120032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 janë këto pohime të vërteta: PO ose JO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PO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Box 5"/>
          <p:cNvSpPr txBox="1">
            <a:spLocks noChangeArrowheads="1"/>
          </p:cNvSpPr>
          <p:nvPr/>
        </p:nvSpPr>
        <p:spPr bwMode="auto">
          <a:xfrm>
            <a:off x="815977" y="2340324"/>
            <a:ext cx="75660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Në stelë jeton numër i vogël i gjallesave.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0145EB-F228-3523-569E-0385E631B07D}"/>
              </a:ext>
            </a:extLst>
          </p:cNvPr>
          <p:cNvSpPr/>
          <p:nvPr/>
        </p:nvSpPr>
        <p:spPr bwMode="auto">
          <a:xfrm>
            <a:off x="1295400" y="685800"/>
            <a:ext cx="6553200" cy="120032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 janë këto pohime të vërteta: PO ose JO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JO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Box 5"/>
          <p:cNvSpPr txBox="1">
            <a:spLocks noChangeArrowheads="1"/>
          </p:cNvSpPr>
          <p:nvPr/>
        </p:nvSpPr>
        <p:spPr bwMode="auto">
          <a:xfrm>
            <a:off x="1143000" y="2057400"/>
            <a:ext cx="756602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q-AL" altLang="en-US" sz="4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Pyjet tropikale të shiut përmbajnë rreth 50% të të gjitha llojeve bimore dhe shtazore të njohura në planetin tonë.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86A6B9-410F-FCEE-641F-1AFB25D78083}"/>
              </a:ext>
            </a:extLst>
          </p:cNvPr>
          <p:cNvSpPr/>
          <p:nvPr/>
        </p:nvSpPr>
        <p:spPr bwMode="auto">
          <a:xfrm>
            <a:off x="1295400" y="685800"/>
            <a:ext cx="6553200" cy="120032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 janë këto pohime të vërteta: PO ose JO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Box 5"/>
          <p:cNvSpPr txBox="1">
            <a:spLocks noChangeArrowheads="1"/>
          </p:cNvSpPr>
          <p:nvPr/>
        </p:nvSpPr>
        <p:spPr bwMode="auto">
          <a:xfrm>
            <a:off x="815977" y="2371102"/>
            <a:ext cx="756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q-AL" altLang="en-US" sz="6000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JO</a:t>
            </a:r>
            <a:endParaRPr lang="en-US" altLang="en-US" sz="6000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62B8AF-2DBA-DB19-5A0C-68D9AB40AC0C}"/>
              </a:ext>
            </a:extLst>
          </p:cNvPr>
          <p:cNvSpPr/>
          <p:nvPr/>
        </p:nvSpPr>
        <p:spPr bwMode="auto">
          <a:xfrm>
            <a:off x="1676400" y="990600"/>
            <a:ext cx="5943600" cy="19050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q-AL" sz="9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</a:rPr>
              <a:t>FINALJA</a:t>
            </a:r>
            <a:endParaRPr kumimoji="0" lang="sq-XK" sz="3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/>
      </p:transition>
    </mc:Choice>
    <mc:Fallback xmlns="">
      <p:transition spd="slow">
        <p:zoom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Jeopardy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DB01"/>
      </a:hlink>
      <a:folHlink>
        <a:srgbClr val="3366FF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 anchorCtr="0">
        <a:spAutoFit/>
      </a:bodyPr>
      <a:lstStyle>
        <a:defPPr algn="ctr">
          <a:spcBef>
            <a:spcPct val="0"/>
          </a:spcBef>
          <a:buFontTx/>
          <a:buNone/>
          <a:defRPr sz="6000" dirty="0">
            <a:solidFill>
              <a:schemeClr val="bg1"/>
            </a:solidFill>
            <a:latin typeface="Arial Black" pitchFamily="34" charset="0"/>
            <a:cs typeface="Arial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Jeopardy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DB01"/>
      </a:hlink>
      <a:folHlink>
        <a:srgbClr val="3366FF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 anchorCtr="0">
        <a:spAutoFit/>
      </a:bodyPr>
      <a:lstStyle>
        <a:defPPr algn="ctr">
          <a:spcBef>
            <a:spcPct val="0"/>
          </a:spcBef>
          <a:buFontTx/>
          <a:buNone/>
          <a:defRPr sz="6000" dirty="0">
            <a:solidFill>
              <a:schemeClr val="bg1"/>
            </a:solidFill>
            <a:latin typeface="Arial Black" pitchFamily="34" charset="0"/>
            <a:cs typeface="Arial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2074</TotalTime>
  <Words>869</Words>
  <Application>Microsoft Office PowerPoint</Application>
  <PresentationFormat>On-screen Show (4:3)</PresentationFormat>
  <Paragraphs>140</Paragraphs>
  <Slides>70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Arial Black</vt:lpstr>
      <vt:lpstr>Arial Narrow</vt:lpstr>
      <vt:lpstr>Calibri</vt:lpstr>
      <vt:lpstr>Impact</vt:lpstr>
      <vt:lpstr>Tahoma</vt:lpstr>
      <vt:lpstr>Times New Roman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Youthdownloads.com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KUIZ ME OPCIONE</dc:title>
  <dc:subject>BIOLOGJI</dc:subject>
  <dc:creator>NASER GURI</dc:creator>
  <cp:lastModifiedBy>Naser Guri</cp:lastModifiedBy>
  <cp:revision>143</cp:revision>
  <dcterms:created xsi:type="dcterms:W3CDTF">1999-10-07T17:16:48Z</dcterms:created>
  <dcterms:modified xsi:type="dcterms:W3CDTF">2023-04-24T21:44:30Z</dcterms:modified>
  <cp:category>Game Shows</cp:category>
</cp:coreProperties>
</file>