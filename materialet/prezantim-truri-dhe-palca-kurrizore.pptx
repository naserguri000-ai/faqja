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6" r:id="rId7"/>
    <p:sldId id="268" r:id="rId8"/>
    <p:sldId id="270" r:id="rId9"/>
    <p:sldId id="262" r:id="rId10"/>
    <p:sldId id="259" r:id="rId11"/>
    <p:sldId id="263" r:id="rId12"/>
    <p:sldId id="261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95356" autoAdjust="0"/>
  </p:normalViewPr>
  <p:slideViewPr>
    <p:cSldViewPr snapToGrid="0" showGuides="1">
      <p:cViewPr varScale="1">
        <p:scale>
          <a:sx n="68" d="100"/>
          <a:sy n="68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2/23/2024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2/23/2024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cs typeface="Arial" pitchFamily="34" charset="0"/>
              </a:rPr>
              <a:t>NOTE: </a:t>
            </a:r>
            <a:r>
              <a:rPr lang="en-US" sz="1200" dirty="0">
                <a:cs typeface="Arial" pitchFamily="34" charset="0"/>
              </a:rPr>
              <a:t>Want a different image on this slide? Select the picture and delete it. Now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51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05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67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99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24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89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9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11" name="Picture 10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Picture Placeholder 10" title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Picture 9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 title="Ribbon tab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title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2/23/2024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/>
          <a:p>
            <a:r>
              <a:rPr lang="sq-AL"/>
              <a:t>Truri dhe palca kurrizore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q-AL" dirty="0"/>
          </a:p>
          <a:p>
            <a:r>
              <a:rPr lang="sq-AL" dirty="0"/>
              <a:t>Pjesa 1</a:t>
            </a: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5786B41-56E9-F72A-CB1A-1AE30C4C4F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6669" r="16669"/>
          <a:stretch/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sq-AL" dirty="0"/>
              <a:t>riteret e suksesit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3241-57D0-5ED5-3E4C-DBCB2D8E2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Qf</a:t>
            </a:r>
            <a:r>
              <a:rPr lang="sq-AL" dirty="0"/>
              <a:t>arë ë</a:t>
            </a:r>
            <a:r>
              <a:rPr lang="en-US" dirty="0" err="1"/>
              <a:t>sht</a:t>
            </a:r>
            <a:r>
              <a:rPr lang="sq-AL" dirty="0"/>
              <a:t>ë</a:t>
            </a:r>
            <a:r>
              <a:rPr lang="en-US" dirty="0"/>
              <a:t> </a:t>
            </a:r>
            <a:r>
              <a:rPr lang="en-US" dirty="0" err="1"/>
              <a:t>truri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ndahet</a:t>
            </a:r>
            <a:r>
              <a:rPr lang="en-US" dirty="0"/>
              <a:t> ai?</a:t>
            </a:r>
            <a:endParaRPr lang="sq-AL" dirty="0"/>
          </a:p>
          <a:p>
            <a:r>
              <a:rPr lang="sq-AL" dirty="0"/>
              <a:t>Pjesët e trurit dhe rolet e tyre..</a:t>
            </a:r>
            <a:endParaRPr lang="en-US" dirty="0"/>
          </a:p>
          <a:p>
            <a:r>
              <a:rPr lang="sq-AL" dirty="0"/>
              <a:t>Q</a:t>
            </a:r>
            <a:r>
              <a:rPr lang="en-US" dirty="0"/>
              <a:t>far</a:t>
            </a:r>
            <a:r>
              <a:rPr lang="sq-AL" dirty="0"/>
              <a:t>ë</a:t>
            </a:r>
            <a:r>
              <a:rPr lang="en-US" dirty="0"/>
              <a:t> b</a:t>
            </a:r>
            <a:r>
              <a:rPr lang="sq-AL" dirty="0"/>
              <a:t>ë</a:t>
            </a:r>
            <a:r>
              <a:rPr lang="en-US" dirty="0"/>
              <a:t>n</a:t>
            </a:r>
            <a:r>
              <a:rPr lang="sq-AL" dirty="0"/>
              <a:t>ë</a:t>
            </a:r>
            <a:r>
              <a:rPr lang="en-US" dirty="0"/>
              <a:t> </a:t>
            </a:r>
            <a:r>
              <a:rPr lang="en-US" dirty="0" err="1"/>
              <a:t>truri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funksionon</a:t>
            </a:r>
            <a:r>
              <a:rPr lang="en-US" dirty="0"/>
              <a:t> ai?</a:t>
            </a:r>
          </a:p>
          <a:p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jan</a:t>
            </a:r>
            <a:r>
              <a:rPr lang="sq-AL" dirty="0"/>
              <a:t>ë</a:t>
            </a:r>
            <a:r>
              <a:rPr lang="en-US" dirty="0"/>
              <a:t> </a:t>
            </a:r>
            <a:r>
              <a:rPr lang="en-US" dirty="0" err="1"/>
              <a:t>hemisferat</a:t>
            </a:r>
            <a:r>
              <a:rPr lang="en-US" dirty="0"/>
              <a:t> e </a:t>
            </a:r>
            <a:r>
              <a:rPr lang="en-US" dirty="0" err="1"/>
              <a:t>tij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ç’pun</a:t>
            </a:r>
            <a:r>
              <a:rPr lang="sq-AL" dirty="0"/>
              <a:t>ë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sq-AL" dirty="0"/>
              <a:t>ë</a:t>
            </a:r>
            <a:r>
              <a:rPr lang="en-US" dirty="0"/>
              <a:t>?</a:t>
            </a:r>
            <a:endParaRPr lang="sq-XK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Truri</a:t>
            </a:r>
            <a:r>
              <a:rPr lang="en-US" dirty="0"/>
              <a:t> – </a:t>
            </a:r>
            <a:r>
              <a:rPr lang="en-US" i="1" u="sng" dirty="0" err="1"/>
              <a:t>qfar</a:t>
            </a:r>
            <a:r>
              <a:rPr lang="sq-AL" i="1" u="sng" dirty="0"/>
              <a:t>ë</a:t>
            </a:r>
            <a:r>
              <a:rPr lang="en-US" i="1" u="sng" dirty="0"/>
              <a:t> </a:t>
            </a:r>
            <a:r>
              <a:rPr lang="sq-AL" i="1" u="sng" dirty="0"/>
              <a:t>ë</a:t>
            </a:r>
            <a:r>
              <a:rPr lang="en-US" i="1" u="sng" dirty="0" err="1"/>
              <a:t>sht</a:t>
            </a:r>
            <a:r>
              <a:rPr lang="sq-AL" i="1" u="sng" dirty="0"/>
              <a:t>ë</a:t>
            </a:r>
            <a:r>
              <a:rPr lang="en-US" i="1" u="sng" dirty="0"/>
              <a:t> </a:t>
            </a:r>
            <a:r>
              <a:rPr lang="en-US" i="1" u="sng" dirty="0" err="1"/>
              <a:t>truri</a:t>
            </a:r>
            <a:r>
              <a:rPr lang="en-US" i="1" u="sng" dirty="0"/>
              <a:t> </a:t>
            </a:r>
            <a:r>
              <a:rPr lang="en-US" i="1" u="sng" dirty="0" err="1"/>
              <a:t>dhe</a:t>
            </a:r>
            <a:r>
              <a:rPr lang="en-US" i="1" u="sng" dirty="0"/>
              <a:t> </a:t>
            </a:r>
            <a:r>
              <a:rPr lang="en-US" i="1" u="sng" dirty="0" err="1"/>
              <a:t>si</a:t>
            </a:r>
            <a:r>
              <a:rPr lang="en-US" i="1" u="sng" dirty="0"/>
              <a:t> </a:t>
            </a:r>
            <a:r>
              <a:rPr lang="en-US" i="1" u="sng" dirty="0" err="1"/>
              <a:t>ndahet</a:t>
            </a:r>
            <a:r>
              <a:rPr lang="en-US" i="1" u="sng" dirty="0"/>
              <a:t> ai?…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5095464" cy="45720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err="1"/>
              <a:t>Truri</a:t>
            </a:r>
            <a:r>
              <a:rPr lang="en-US" sz="2000" dirty="0"/>
              <a:t> ::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tek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njeriu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dhe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dirty="0" err="1">
                <a:solidFill>
                  <a:srgbClr val="202122"/>
                </a:solidFill>
              </a:rPr>
              <a:t>kafsh</a:t>
            </a:r>
            <a:r>
              <a:rPr lang="sq-AL" sz="2000" dirty="0">
                <a:solidFill>
                  <a:srgbClr val="202122"/>
                </a:solidFill>
              </a:rPr>
              <a:t>ë</a:t>
            </a:r>
            <a:r>
              <a:rPr lang="en-US" sz="2000" dirty="0">
                <a:solidFill>
                  <a:srgbClr val="202122"/>
                </a:solidFill>
              </a:rPr>
              <a:t>t</a:t>
            </a:r>
            <a:r>
              <a:rPr lang="sq-AL" sz="2000" dirty="0">
                <a:solidFill>
                  <a:srgbClr val="202122"/>
                </a:solidFill>
              </a:rPr>
              <a:t> </a:t>
            </a:r>
            <a:r>
              <a:rPr lang="en-US" sz="2000" dirty="0" err="1">
                <a:solidFill>
                  <a:srgbClr val="202122"/>
                </a:solidFill>
              </a:rPr>
              <a:t>kurrizore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është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pjesa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e </a:t>
            </a:r>
            <a:r>
              <a:rPr lang="en-US" sz="2000" dirty="0" err="1">
                <a:solidFill>
                  <a:srgbClr val="202122"/>
                </a:solidFill>
              </a:rPr>
              <a:t>trupit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që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gjendet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në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dirty="0" err="1">
                <a:solidFill>
                  <a:srgbClr val="202122"/>
                </a:solidFill>
              </a:rPr>
              <a:t>kok</a:t>
            </a:r>
            <a:r>
              <a:rPr lang="sq-AL" sz="2000" dirty="0">
                <a:solidFill>
                  <a:srgbClr val="202122"/>
                </a:solidFill>
              </a:rPr>
              <a:t>ë</a:t>
            </a:r>
            <a:r>
              <a:rPr lang="en-US" sz="2000" dirty="0">
                <a:solidFill>
                  <a:srgbClr val="202122"/>
                </a:solidFill>
              </a:rPr>
              <a:t> 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I</a:t>
            </a:r>
            <a:r>
              <a:rPr lang="sq-AL" sz="2000" b="0" i="0" u="none" strike="noStrike" dirty="0">
                <a:solidFill>
                  <a:srgbClr val="202122"/>
                </a:solidFill>
                <a:effectLst/>
              </a:rPr>
              <a:t>i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mbrojtur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nga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i="1" dirty="0" err="1">
                <a:solidFill>
                  <a:srgbClr val="202122"/>
                </a:solidFill>
              </a:rPr>
              <a:t>kafka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dhe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që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sh</a:t>
            </a:r>
            <a:r>
              <a:rPr lang="sq-AL" sz="2000" b="0" i="0" u="none" strike="noStrike" dirty="0">
                <a:solidFill>
                  <a:srgbClr val="202122"/>
                </a:solidFill>
                <a:effectLst/>
              </a:rPr>
              <a:t>ë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rben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p</a:t>
            </a:r>
            <a:r>
              <a:rPr lang="sq-AL" sz="2000" b="0" i="0" u="none" strike="noStrike" dirty="0">
                <a:solidFill>
                  <a:srgbClr val="202122"/>
                </a:solidFill>
                <a:effectLst/>
              </a:rPr>
              <a:t>ë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r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kapjen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,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përpunimin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dhe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ruajtjen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e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njoftimeve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të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marra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 </a:t>
            </a:r>
            <a:r>
              <a:rPr lang="en-US" sz="2000" b="0" i="0" u="none" strike="noStrike" dirty="0" err="1">
                <a:solidFill>
                  <a:srgbClr val="202122"/>
                </a:solidFill>
                <a:effectLst/>
              </a:rPr>
              <a:t>nëpërmjet</a:t>
            </a:r>
            <a:r>
              <a:rPr lang="en-US" sz="2000" b="0" i="0" u="none" strike="noStrike" dirty="0">
                <a:solidFill>
                  <a:srgbClr val="202122"/>
                </a:solidFill>
                <a:effectLst/>
              </a:rPr>
              <a:t> </a:t>
            </a:r>
            <a:r>
              <a:rPr lang="en-US" sz="2000" dirty="0" err="1">
                <a:solidFill>
                  <a:srgbClr val="202122"/>
                </a:solidFill>
              </a:rPr>
              <a:t>organeve</a:t>
            </a:r>
            <a:r>
              <a:rPr lang="en-US" sz="2000" dirty="0">
                <a:solidFill>
                  <a:srgbClr val="202122"/>
                </a:solidFill>
              </a:rPr>
              <a:t> </a:t>
            </a:r>
            <a:r>
              <a:rPr lang="en-US" sz="2000" dirty="0" err="1">
                <a:solidFill>
                  <a:srgbClr val="202122"/>
                </a:solidFill>
              </a:rPr>
              <a:t>shqisore</a:t>
            </a:r>
            <a:r>
              <a:rPr lang="en-US" sz="2000" dirty="0">
                <a:solidFill>
                  <a:srgbClr val="202122"/>
                </a:solidFill>
              </a:rPr>
              <a:t>.</a:t>
            </a:r>
          </a:p>
          <a:p>
            <a:r>
              <a:rPr lang="sq-AL" sz="2000" dirty="0"/>
              <a:t>Truri është si një grup ekspertësh. Të gjitha pjesët e trurit punojnë së bashku, por secila pjesë ka përgjegjësitë e veta të veçanta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dirty="0" err="1"/>
              <a:t>Truri</a:t>
            </a:r>
            <a:r>
              <a:rPr lang="en-US" sz="2000" dirty="0"/>
              <a:t> </a:t>
            </a:r>
            <a:r>
              <a:rPr lang="sq-AL" sz="2000" dirty="0"/>
              <a:t>ë</a:t>
            </a:r>
            <a:r>
              <a:rPr lang="en-US" sz="2000" dirty="0" err="1"/>
              <a:t>sht</a:t>
            </a:r>
            <a:r>
              <a:rPr lang="sq-AL" sz="2000" dirty="0"/>
              <a:t>ë i </a:t>
            </a:r>
            <a:r>
              <a:rPr lang="en-US" sz="2000" dirty="0" err="1"/>
              <a:t>ndar</a:t>
            </a:r>
            <a:r>
              <a:rPr lang="sq-AL" sz="2000" dirty="0"/>
              <a:t>ë</a:t>
            </a:r>
            <a:r>
              <a:rPr lang="en-US" sz="2000" dirty="0"/>
              <a:t> n</a:t>
            </a:r>
            <a:r>
              <a:rPr lang="sq-AL" sz="2000" dirty="0"/>
              <a:t>ë</a:t>
            </a:r>
            <a:r>
              <a:rPr lang="en-US" sz="2000" dirty="0"/>
              <a:t> :</a:t>
            </a:r>
          </a:p>
          <a:p>
            <a:r>
              <a:rPr lang="en-US" sz="2000" dirty="0"/>
              <a:t> • </a:t>
            </a:r>
            <a:r>
              <a:rPr lang="en-US" sz="2000" i="1" dirty="0" err="1"/>
              <a:t>trurin</a:t>
            </a:r>
            <a:r>
              <a:rPr lang="en-US" sz="2000" i="1" dirty="0"/>
              <a:t> e </a:t>
            </a:r>
            <a:r>
              <a:rPr lang="en-US" sz="2000" i="1" dirty="0" err="1"/>
              <a:t>madh</a:t>
            </a:r>
            <a:endParaRPr lang="en-US" sz="2000" i="1" dirty="0"/>
          </a:p>
          <a:p>
            <a:r>
              <a:rPr lang="en-US" sz="2000" i="1" dirty="0"/>
              <a:t> • </a:t>
            </a:r>
            <a:r>
              <a:rPr lang="en-US" sz="2000" i="1" dirty="0" err="1"/>
              <a:t>trurin</a:t>
            </a:r>
            <a:r>
              <a:rPr lang="en-US" sz="2000" i="1" dirty="0"/>
              <a:t> e </a:t>
            </a:r>
            <a:r>
              <a:rPr lang="en-US" sz="2000" i="1" dirty="0" err="1"/>
              <a:t>nd</a:t>
            </a:r>
            <a:r>
              <a:rPr lang="sq-AL" sz="2000" i="1" dirty="0"/>
              <a:t>ë</a:t>
            </a:r>
            <a:r>
              <a:rPr lang="en-US" sz="2000" i="1" dirty="0" err="1"/>
              <a:t>rmjet</a:t>
            </a:r>
            <a:r>
              <a:rPr lang="sq-AL" sz="2000" i="1" dirty="0"/>
              <a:t>ë</a:t>
            </a:r>
            <a:r>
              <a:rPr lang="en-US" sz="2000" i="1" dirty="0"/>
              <a:t>m </a:t>
            </a:r>
          </a:p>
          <a:p>
            <a:r>
              <a:rPr lang="en-US" sz="2000" i="1" dirty="0"/>
              <a:t> • </a:t>
            </a:r>
            <a:r>
              <a:rPr lang="en-US" sz="2000" i="1" dirty="0" err="1"/>
              <a:t>trurin</a:t>
            </a:r>
            <a:r>
              <a:rPr lang="en-US" sz="2000" i="1" dirty="0"/>
              <a:t> </a:t>
            </a:r>
            <a:r>
              <a:rPr lang="en-US" sz="2000" i="1" dirty="0" err="1"/>
              <a:t>mes</a:t>
            </a:r>
            <a:r>
              <a:rPr lang="sq-AL" sz="2000" i="1" dirty="0"/>
              <a:t>ë</a:t>
            </a:r>
            <a:r>
              <a:rPr lang="en-US" sz="2000" i="1" dirty="0"/>
              <a:t>m</a:t>
            </a:r>
          </a:p>
          <a:p>
            <a:r>
              <a:rPr lang="en-US" sz="2000" i="1" dirty="0"/>
              <a:t> • </a:t>
            </a:r>
            <a:r>
              <a:rPr lang="en-US" sz="2000" i="1" dirty="0" err="1"/>
              <a:t>trurin</a:t>
            </a:r>
            <a:r>
              <a:rPr lang="en-US" sz="2000" i="1" dirty="0"/>
              <a:t> e </a:t>
            </a:r>
            <a:r>
              <a:rPr lang="en-US" sz="2000" i="1" dirty="0" err="1"/>
              <a:t>vog</a:t>
            </a:r>
            <a:r>
              <a:rPr lang="sq-AL" sz="2000" i="1" dirty="0"/>
              <a:t>ë</a:t>
            </a:r>
            <a:r>
              <a:rPr lang="en-US" sz="2000" i="1" dirty="0"/>
              <a:t>l</a:t>
            </a:r>
          </a:p>
          <a:p>
            <a:r>
              <a:rPr lang="en-US" sz="2000" i="1" dirty="0"/>
              <a:t> • </a:t>
            </a:r>
            <a:r>
              <a:rPr lang="en-US" sz="2000" i="1" dirty="0" err="1"/>
              <a:t>palc</a:t>
            </a:r>
            <a:r>
              <a:rPr lang="sq-AL" sz="2000" i="1" dirty="0"/>
              <a:t>ën</a:t>
            </a:r>
            <a:r>
              <a:rPr lang="en-US" sz="2000" i="1" dirty="0"/>
              <a:t> e </a:t>
            </a:r>
            <a:r>
              <a:rPr lang="en-US" sz="2000" i="1" dirty="0" err="1"/>
              <a:t>zgjatur</a:t>
            </a:r>
            <a:endParaRPr lang="en-US" sz="2000" i="1" dirty="0"/>
          </a:p>
          <a:p>
            <a:endParaRPr lang="en-US" sz="2000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DF4EFF6-F9E8-74B3-2DC0-4896E486486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10" b="110"/>
          <a:stretch/>
        </p:blipFill>
        <p:spPr>
          <a:xfrm>
            <a:off x="6200364" y="1600200"/>
            <a:ext cx="5631213" cy="4003462"/>
          </a:xfrm>
        </p:spPr>
      </p:pic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q-AL" dirty="0"/>
              <a:t>Pjesët e trurit dHe funksionet kryesore të tyre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q-AL" dirty="0"/>
              <a:t>Pjesa 2</a:t>
            </a:r>
          </a:p>
          <a:p>
            <a:endParaRPr lang="sq-AL" dirty="0"/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EDBB-F140-52C7-5305-F1E0026D0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Truri</a:t>
            </a:r>
            <a:r>
              <a:rPr lang="en-US" dirty="0"/>
              <a:t> </a:t>
            </a:r>
            <a:r>
              <a:rPr lang="en-US" dirty="0" err="1"/>
              <a:t>Madh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2F421C-2965-D5DD-14D4-98828EE015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64918" y="1600819"/>
            <a:ext cx="4370302" cy="372327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1EB7C-ECA8-50AC-B643-7F2DB763F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4900" y="1600819"/>
            <a:ext cx="4914900" cy="4571999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Truri</a:t>
            </a:r>
            <a:r>
              <a:rPr lang="en-US" dirty="0"/>
              <a:t> </a:t>
            </a:r>
            <a:r>
              <a:rPr lang="en-US" dirty="0" err="1"/>
              <a:t>madh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pjesa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e </a:t>
            </a:r>
            <a:r>
              <a:rPr lang="en-US" dirty="0" err="1"/>
              <a:t>madhe</a:t>
            </a:r>
            <a:r>
              <a:rPr lang="en-US" dirty="0"/>
              <a:t> e </a:t>
            </a:r>
            <a:r>
              <a:rPr lang="en-US" dirty="0" err="1"/>
              <a:t>trurit</a:t>
            </a:r>
            <a:r>
              <a:rPr lang="en-US" dirty="0"/>
              <a:t> </a:t>
            </a:r>
            <a:r>
              <a:rPr lang="en-US" dirty="0" err="1"/>
              <a:t>tonë</a:t>
            </a:r>
            <a:r>
              <a:rPr lang="en-US" dirty="0"/>
              <a:t>,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trajton</a:t>
            </a:r>
            <a:r>
              <a:rPr lang="en-US" dirty="0"/>
              <a:t> </a:t>
            </a:r>
            <a:r>
              <a:rPr lang="en-US" dirty="0" err="1"/>
              <a:t>mendimet</a:t>
            </a:r>
            <a:r>
              <a:rPr lang="en-US" dirty="0"/>
              <a:t> e </a:t>
            </a:r>
            <a:r>
              <a:rPr lang="en-US" dirty="0" err="1"/>
              <a:t>veprimet</a:t>
            </a:r>
            <a:r>
              <a:rPr lang="en-US" dirty="0"/>
              <a:t> e </a:t>
            </a:r>
            <a:r>
              <a:rPr lang="en-US" dirty="0" err="1"/>
              <a:t>ndërgjegjshme</a:t>
            </a:r>
            <a:r>
              <a:rPr lang="en-US" dirty="0"/>
              <a:t>. </a:t>
            </a:r>
            <a:r>
              <a:rPr lang="en-US" dirty="0" err="1"/>
              <a:t>Zonat</a:t>
            </a:r>
            <a:r>
              <a:rPr lang="en-US" dirty="0"/>
              <a:t> e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trurin</a:t>
            </a:r>
            <a:r>
              <a:rPr lang="en-US" dirty="0"/>
              <a:t> </a:t>
            </a:r>
            <a:r>
              <a:rPr lang="en-US" dirty="0" err="1"/>
              <a:t>tonë</a:t>
            </a:r>
            <a:r>
              <a:rPr lang="en-US" dirty="0"/>
              <a:t> </a:t>
            </a:r>
            <a:r>
              <a:rPr lang="en-US" dirty="0" err="1"/>
              <a:t>kanë</a:t>
            </a:r>
            <a:r>
              <a:rPr lang="en-US" dirty="0"/>
              <a:t> </a:t>
            </a:r>
            <a:r>
              <a:rPr lang="en-US" dirty="0" err="1"/>
              <a:t>përgjegjsi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gjuha</a:t>
            </a:r>
            <a:r>
              <a:rPr lang="en-US" dirty="0"/>
              <a:t>, </a:t>
            </a:r>
            <a:r>
              <a:rPr lang="en-US" dirty="0" err="1"/>
              <a:t>sjellja</a:t>
            </a:r>
            <a:r>
              <a:rPr lang="en-US" dirty="0"/>
              <a:t> e </a:t>
            </a:r>
            <a:r>
              <a:rPr lang="en-US" dirty="0" err="1"/>
              <a:t>tjera</a:t>
            </a:r>
            <a:r>
              <a:rPr lang="en-US" dirty="0"/>
              <a:t>..</a:t>
            </a:r>
          </a:p>
          <a:p>
            <a:r>
              <a:rPr lang="en-US" i="1" dirty="0" err="1"/>
              <a:t>Qfarë</a:t>
            </a:r>
            <a:r>
              <a:rPr lang="en-US" i="1" dirty="0"/>
              <a:t> </a:t>
            </a:r>
            <a:r>
              <a:rPr lang="en-US" i="1" dirty="0" err="1"/>
              <a:t>bën</a:t>
            </a:r>
            <a:r>
              <a:rPr lang="en-US" i="1" dirty="0"/>
              <a:t> </a:t>
            </a:r>
            <a:r>
              <a:rPr lang="en-US" i="1" dirty="0" err="1"/>
              <a:t>Truri</a:t>
            </a:r>
            <a:r>
              <a:rPr lang="en-US" i="1" dirty="0"/>
              <a:t> </a:t>
            </a:r>
            <a:r>
              <a:rPr lang="en-US" i="1" dirty="0" err="1"/>
              <a:t>madh</a:t>
            </a:r>
            <a:r>
              <a:rPr lang="en-US" i="1" dirty="0"/>
              <a:t>?::</a:t>
            </a:r>
          </a:p>
          <a:p>
            <a:r>
              <a:rPr lang="en-US" i="1" dirty="0" err="1"/>
              <a:t>Kontrollon</a:t>
            </a:r>
            <a:r>
              <a:rPr lang="en-US" i="1" dirty="0"/>
              <a:t> </a:t>
            </a:r>
            <a:r>
              <a:rPr lang="en-US" i="1" dirty="0" err="1"/>
              <a:t>shqisat</a:t>
            </a:r>
            <a:endParaRPr lang="en-US" i="1" dirty="0"/>
          </a:p>
          <a:p>
            <a:r>
              <a:rPr lang="en-US" i="1" dirty="0" err="1"/>
              <a:t>Gjuhën</a:t>
            </a:r>
            <a:r>
              <a:rPr lang="en-US" i="1" dirty="0"/>
              <a:t> </a:t>
            </a:r>
            <a:r>
              <a:rPr lang="en-US" i="1" dirty="0" err="1"/>
              <a:t>tonë</a:t>
            </a:r>
            <a:endParaRPr lang="en-US" i="1" dirty="0"/>
          </a:p>
          <a:p>
            <a:r>
              <a:rPr lang="en-US" i="1" dirty="0" err="1"/>
              <a:t>Memoria</a:t>
            </a:r>
            <a:r>
              <a:rPr lang="en-US" i="1" dirty="0"/>
              <a:t> </a:t>
            </a:r>
            <a:r>
              <a:rPr lang="en-US" i="1" dirty="0" err="1"/>
              <a:t>apo</a:t>
            </a:r>
            <a:r>
              <a:rPr lang="en-US" i="1" dirty="0"/>
              <a:t> </a:t>
            </a:r>
            <a:r>
              <a:rPr lang="en-US" i="1" dirty="0" err="1"/>
              <a:t>kujtesa</a:t>
            </a:r>
            <a:endParaRPr lang="en-US" i="1" dirty="0"/>
          </a:p>
          <a:p>
            <a:r>
              <a:rPr lang="en-US" i="1" dirty="0" err="1"/>
              <a:t>Sjelljet</a:t>
            </a:r>
            <a:r>
              <a:rPr lang="en-US" i="1" dirty="0"/>
              <a:t> </a:t>
            </a:r>
            <a:r>
              <a:rPr lang="en-US" i="1" dirty="0" err="1"/>
              <a:t>dhe</a:t>
            </a:r>
            <a:r>
              <a:rPr lang="en-US" i="1" dirty="0"/>
              <a:t> </a:t>
            </a:r>
            <a:r>
              <a:rPr lang="en-US" i="1" dirty="0" err="1"/>
              <a:t>personalitetin</a:t>
            </a:r>
            <a:r>
              <a:rPr lang="en-US" i="1" dirty="0"/>
              <a:t> </a:t>
            </a:r>
            <a:r>
              <a:rPr lang="en-US" i="1" dirty="0" err="1"/>
              <a:t>tonë</a:t>
            </a:r>
            <a:endParaRPr lang="en-US" i="1" dirty="0"/>
          </a:p>
          <a:p>
            <a:r>
              <a:rPr lang="en-US" i="1" dirty="0" err="1"/>
              <a:t>Lëvizjen</a:t>
            </a:r>
            <a:endParaRPr lang="en-US" i="1" dirty="0"/>
          </a:p>
          <a:p>
            <a:r>
              <a:rPr lang="en-US" i="1" dirty="0"/>
              <a:t>Të </a:t>
            </a:r>
            <a:r>
              <a:rPr lang="en-US" i="1" dirty="0" err="1"/>
              <a:t>mësuarit</a:t>
            </a:r>
            <a:r>
              <a:rPr lang="en-US" i="1" dirty="0"/>
              <a:t> , </a:t>
            </a:r>
            <a:r>
              <a:rPr lang="en-US" i="1" dirty="0" err="1"/>
              <a:t>logjika</a:t>
            </a:r>
            <a:r>
              <a:rPr lang="en-US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762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Truri</a:t>
            </a:r>
            <a:r>
              <a:rPr lang="en-US" dirty="0"/>
              <a:t> </a:t>
            </a:r>
            <a:r>
              <a:rPr lang="en-US" dirty="0" err="1"/>
              <a:t>mesëm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sq-AL" dirty="0"/>
              <a:t>i</a:t>
            </a:r>
            <a:r>
              <a:rPr lang="en-US" dirty="0"/>
              <a:t> </a:t>
            </a:r>
            <a:r>
              <a:rPr lang="en-US" dirty="0" err="1"/>
              <a:t>ndermjetëm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Truri</a:t>
            </a:r>
            <a:r>
              <a:rPr lang="en-US" dirty="0"/>
              <a:t> </a:t>
            </a:r>
            <a:r>
              <a:rPr lang="sq-AL" dirty="0"/>
              <a:t>i </a:t>
            </a:r>
            <a:r>
              <a:rPr lang="en-US" dirty="0" err="1"/>
              <a:t>mesëm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Truri</a:t>
            </a:r>
            <a:r>
              <a:rPr lang="en-US" dirty="0"/>
              <a:t> i </a:t>
            </a:r>
            <a:r>
              <a:rPr lang="en-US" dirty="0" err="1"/>
              <a:t>mesëm</a:t>
            </a:r>
            <a:r>
              <a:rPr lang="en-US" dirty="0"/>
              <a:t> </a:t>
            </a:r>
            <a:r>
              <a:rPr lang="en-US" dirty="0" err="1"/>
              <a:t>merr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detyrë</a:t>
            </a:r>
            <a:r>
              <a:rPr lang="en-US" dirty="0"/>
              <a:t> </a:t>
            </a:r>
            <a:r>
              <a:rPr lang="en-US" dirty="0" err="1"/>
              <a:t>shikimin</a:t>
            </a:r>
            <a:r>
              <a:rPr lang="en-US" dirty="0"/>
              <a:t>, </a:t>
            </a:r>
            <a:r>
              <a:rPr lang="en-US" dirty="0" err="1"/>
              <a:t>dëgjimin</a:t>
            </a:r>
            <a:r>
              <a:rPr lang="en-US" dirty="0"/>
              <a:t>, e </a:t>
            </a:r>
            <a:r>
              <a:rPr lang="en-US" dirty="0" err="1"/>
              <a:t>gjumin</a:t>
            </a:r>
            <a:r>
              <a:rPr lang="en-US" dirty="0"/>
              <a:t>.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përgjegjës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kryerjen</a:t>
            </a:r>
            <a:r>
              <a:rPr lang="en-US" dirty="0"/>
              <a:t> e </a:t>
            </a:r>
            <a:r>
              <a:rPr lang="en-US" dirty="0" err="1"/>
              <a:t>proceseve</a:t>
            </a:r>
            <a:r>
              <a:rPr lang="sq-AL" dirty="0"/>
              <a:t> me rëndësi jetësore që organizmi të vazhdoj të funksionoj</a:t>
            </a:r>
          </a:p>
          <a:p>
            <a:r>
              <a:rPr lang="sq-AL" dirty="0"/>
              <a:t>Ai është i vendosur pothuajse në qendër të trurit , duke zënë një pjesë të zonës së tijë të thellë.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Truri</a:t>
            </a:r>
            <a:r>
              <a:rPr lang="en-US" dirty="0"/>
              <a:t> </a:t>
            </a:r>
            <a:r>
              <a:rPr lang="sq-AL" dirty="0"/>
              <a:t>i n</a:t>
            </a:r>
            <a:r>
              <a:rPr lang="en-US" dirty="0" err="1"/>
              <a:t>dërmjetëm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sq-AL" dirty="0"/>
              <a:t>Truri i ndërmjetëm është i vogel. Ëshze qendër kontrolluese e metabolismit, temperaturës së trupit etj.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Truri i Vogël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3416" y="1600199"/>
            <a:ext cx="5606584" cy="4808984"/>
          </a:xfrm>
        </p:spPr>
        <p:txBody>
          <a:bodyPr/>
          <a:lstStyle/>
          <a:p>
            <a:r>
              <a:rPr lang="sq-AL" dirty="0"/>
              <a:t>Truri vogël gjendet në pjesën e poshtme të trurit (siq shihet në foto).</a:t>
            </a:r>
          </a:p>
          <a:p>
            <a:r>
              <a:rPr lang="sq-AL" dirty="0"/>
              <a:t>Truri vogël shërben për të ruajtur ekuilibrin dhe orientimin në hapësirë , dhe drejton e kontrollon tonusin e muskujve. (tonus dmth rezistenca që shfaqet kur zgjasim muskujt) </a:t>
            </a:r>
          </a:p>
          <a:p>
            <a:r>
              <a:rPr lang="sq-AL" dirty="0"/>
              <a:t>Truri vogël lejon edhe mundëson lëvizjet e duhura , gjeste të buta dhe kuptimplotë.</a:t>
            </a:r>
          </a:p>
          <a:p>
            <a:r>
              <a:rPr lang="sq-AL" dirty="0"/>
              <a:t>Truri vogël është i zhvilluar më së miri tek gjitarët që kanë aftësi të jashtëzakonshme fizike si vrapuesit , notuestit , fluturuestit etj..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35C907-793F-8556-E0E8-9EC7BABD9F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39517" y="1600199"/>
            <a:ext cx="4914900" cy="3689066"/>
          </a:xfrm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Palca E Zgjatur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6A6F0-497E-3041-AA63-68ADC7EE33CC}"/>
              </a:ext>
            </a:extLst>
          </p:cNvPr>
          <p:cNvSpPr txBox="1"/>
          <p:nvPr/>
        </p:nvSpPr>
        <p:spPr>
          <a:xfrm>
            <a:off x="5187795" y="252389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9A36A-C260-EEFF-5800-69BE6E13B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154" y="1714808"/>
            <a:ext cx="4865428" cy="43564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A099F0-0825-4CFF-3631-0CDA9D611825}"/>
              </a:ext>
            </a:extLst>
          </p:cNvPr>
          <p:cNvSpPr txBox="1"/>
          <p:nvPr/>
        </p:nvSpPr>
        <p:spPr>
          <a:xfrm>
            <a:off x="1104900" y="1714808"/>
            <a:ext cx="48654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sq-AL" dirty="0"/>
              <a:t>Palca e Zgja</a:t>
            </a:r>
            <a:r>
              <a:rPr lang="en-US" dirty="0"/>
              <a:t>tur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ndryshe</a:t>
            </a:r>
            <a:r>
              <a:rPr lang="en-US" dirty="0"/>
              <a:t> </a:t>
            </a:r>
            <a:r>
              <a:rPr lang="en-US" dirty="0" err="1"/>
              <a:t>truri</a:t>
            </a:r>
            <a:r>
              <a:rPr lang="en-US" dirty="0"/>
              <a:t> </a:t>
            </a:r>
            <a:r>
              <a:rPr lang="sq-AL" dirty="0"/>
              <a:t>i </a:t>
            </a:r>
            <a:r>
              <a:rPr lang="en-US" dirty="0" err="1"/>
              <a:t>pasmë</a:t>
            </a:r>
            <a:r>
              <a:rPr lang="sq-AL" dirty="0"/>
              <a:t> është lidhja mes palcës kurrizore dhe trurit. Kjo pjesë e trurit kontrollon ato veprime të pavullnetshme si rrahja e zemrës, shtypja e gjakut e shumë të tjera…</a:t>
            </a:r>
          </a:p>
          <a:p>
            <a:pPr algn="l"/>
            <a:endParaRPr lang="sq-AL" dirty="0"/>
          </a:p>
          <a:p>
            <a:pPr algn="l"/>
            <a:r>
              <a:rPr lang="sq-AL" dirty="0"/>
              <a:t>Palca e zgjatur bashkë me trurin e mesëm krijonje një lidhje që quhet trungu trunor.</a:t>
            </a:r>
          </a:p>
          <a:p>
            <a:pPr algn="l"/>
            <a:endParaRPr lang="sq-AL" dirty="0"/>
          </a:p>
          <a:p>
            <a:pPr algn="l"/>
            <a:r>
              <a:rPr lang="sq-AL" dirty="0"/>
              <a:t>Në këtë palcë kryqëzohen një pjesë e ca fijeve/telave nervore që lidhin pjesën e majtë dhe të djathë të trupit tonë </a:t>
            </a: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Qfarë bënë truri dhe si funksionon ai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q-AL" dirty="0"/>
              <a:t>Pjesa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D838-46D2-3328-686B-1F2D917D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Truri dhe funksionimi i tij</a:t>
            </a: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554E4CC-23FB-5D8D-5159-1E3FF7688B2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6641" b="22266"/>
          <a:stretch/>
        </p:blipFill>
        <p:spPr>
          <a:xfrm>
            <a:off x="5181256" y="1600199"/>
            <a:ext cx="6430912" cy="4572001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40E4D-4F98-1691-32F7-758B755DF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sq-AL" dirty="0"/>
              <a:t>Truri kontrollon atë që mendojmë dhe ndjejmë, si mësojmë dhe mbajmë mend dhe mënyrën se si lëvizim dhe flasim. </a:t>
            </a:r>
          </a:p>
          <a:p>
            <a:r>
              <a:rPr lang="sq-AL" dirty="0"/>
              <a:t>Por gjithashtu kontrollon gjërat për të cilat jemi më pak të vetëdijshëm si rrahjet e zemrës dhe tretja e ushqimit tonë.</a:t>
            </a:r>
          </a:p>
          <a:p>
            <a:r>
              <a:rPr lang="sq-AL" dirty="0"/>
              <a:t>Truri është organ kompleks që kontrollon mendimin, shikimin , frymëmarrjen, dhe gjdo proces tjetër në trupin tonë. Së bashku, truri dhe palca kurrizore përbëjnë sistemin nervor qëndror. </a:t>
            </a:r>
          </a:p>
        </p:txBody>
      </p:sp>
    </p:spTree>
    <p:extLst>
      <p:ext uri="{BB962C8B-B14F-4D97-AF65-F5344CB8AC3E}">
        <p14:creationId xmlns:p14="http://schemas.microsoft.com/office/powerpoint/2010/main" val="57814688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091F-3CCE-BC9F-264E-5545044C9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Si funksionon Truri?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339B79-9B98-FB61-C151-F760C959E2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q-AL" dirty="0"/>
              <a:t>Truri dërgon dhe merr sinjale kimike dhe elektrike në të gjithë trupin. Sinjale të ndryshme kontrollojnë procese të ndryshme dhe truri jonë interpreton secilin. </a:t>
            </a:r>
          </a:p>
          <a:p>
            <a:r>
              <a:rPr lang="sq-AL" dirty="0"/>
              <a:t>Disa na bëjnë të ndihemi të lodhur, për shembull, ndërsa të tjerët ju bëjnë të ndjeni dhimbje.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6852C-CBA1-FB72-B9DA-C0331D7E4F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sq-AL" dirty="0"/>
              <a:t>Disa mesazhe mbahen brenda trurit, ndërsa të tjerat transmetohen përmes shtyllës kurrizore dhe përmes rrjetit të gjerë të nervave të trupit në ekstremitetet e largëta. </a:t>
            </a:r>
          </a:p>
          <a:p>
            <a:r>
              <a:rPr lang="sq-AL" dirty="0"/>
              <a:t>Për ta bërë këtë, sistemi nervor qendror mbështetet në miliarda neurone (qeliza nervore).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34364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9E54-6D69-109C-1C17-D5BDA861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Hemisferat e trurit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6ABF7-F20D-D499-FA3E-A3D06309F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q-AL" dirty="0"/>
              <a:t>Pjesa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1271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F51A-0B6C-6496-2DAA-CB298E99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q-AL" dirty="0"/>
              <a:t>Hemisferat - </a:t>
            </a:r>
            <a:r>
              <a:rPr lang="sq-AL" i="1" u="sng" dirty="0"/>
              <a:t>e trurit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2CC0E1-0188-9E98-5E0C-258D0EDB40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7782" y="1600200"/>
            <a:ext cx="5257800" cy="39497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9ED06-F012-2EE8-EA07-396E7BE4C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Truri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i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njeriut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i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ka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dy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pjesë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,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që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njihen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si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hemisfera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.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Secila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pjesë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rregullon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aspekte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ndryshme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funksionit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fiz</a:t>
            </a:r>
            <a:r>
              <a:rPr lang="sq-AL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ik.</a:t>
            </a:r>
            <a:endParaRPr lang="en-US" b="0" i="0" u="none" strike="noStrike" dirty="0">
              <a:solidFill>
                <a:srgbClr val="747474"/>
              </a:solidFill>
              <a:effectLst/>
              <a:latin typeface="Roboto" panose="020F0502020204030204" pitchFamily="34" charset="0"/>
            </a:endParaRPr>
          </a:p>
          <a:p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Këto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dy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pjesë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nuk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funksionojnë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ndaras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. Në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fakt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dy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hemisferat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bashkëpunojnë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me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njëra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–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tjetrën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, duke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krijuar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rrjete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nervore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komplekse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që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lejojnë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pjesë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ndryshme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trupit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dhe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mendjes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sinkronizohen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dhe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punojnë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harmon</a:t>
            </a:r>
            <a:r>
              <a:rPr lang="sq-AL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i.</a:t>
            </a:r>
            <a:endParaRPr lang="en-US" b="0" i="0" u="none" strike="noStrike" dirty="0">
              <a:solidFill>
                <a:srgbClr val="747474"/>
              </a:solidFill>
              <a:effectLst/>
              <a:latin typeface="Roboto" panose="020F0502020204030204" pitchFamily="34" charset="0"/>
            </a:endParaRPr>
          </a:p>
          <a:p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Funksioni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i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hemisferës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së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djathtë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është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për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kontrolluar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anën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e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majtë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trupit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,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dhe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është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pjesa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më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kreative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e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trurit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.</a:t>
            </a:r>
          </a:p>
          <a:p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Hemisfera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e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majtë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në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anën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tjetër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,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kontrollon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anën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e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djathtë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trupit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dhe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është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përgjegjëse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për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anën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logjike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të</a:t>
            </a:r>
            <a:r>
              <a:rPr lang="en-US" b="0" i="0" u="none" strike="noStrike" dirty="0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747474"/>
                </a:solidFill>
                <a:effectLst/>
                <a:latin typeface="Roboto" panose="020F0502020204030204" pitchFamily="34" charset="0"/>
              </a:rPr>
              <a:t>trurit</a:t>
            </a:r>
            <a:endParaRPr lang="en-US" b="0" i="0" u="none" strike="noStrike" dirty="0">
              <a:solidFill>
                <a:srgbClr val="747474"/>
              </a:solidFill>
              <a:effectLst/>
              <a:latin typeface="Roboto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6612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4EEFF0-789A-8EA0-1632-3265B3A1F1EA}"/>
              </a:ext>
            </a:extLst>
          </p:cNvPr>
          <p:cNvSpPr txBox="1"/>
          <p:nvPr/>
        </p:nvSpPr>
        <p:spPr>
          <a:xfrm>
            <a:off x="5187795" y="252389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243583D-CB9B-660F-C9B3-8FCD8C567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q-AL" dirty="0"/>
              <a:t>FALEMINDERIT PËR VËMENDJEN!!!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9643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F0B1CDFC-F64C-48A2-B0C0-8A6E553AD89A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D35DF6-4C68-42E3-9A51-91E3B8DC80B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C0A025-EC96-4160-84F3-B0459CBE5978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DC99005-3798-4902-B5B1-B7BC9B795A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841</Words>
  <Application>Microsoft Office PowerPoint</Application>
  <PresentationFormat>Widescreen</PresentationFormat>
  <Paragraphs>73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Euphemia</vt:lpstr>
      <vt:lpstr>Plantagenet Cherokee</vt:lpstr>
      <vt:lpstr>Roboto</vt:lpstr>
      <vt:lpstr>Wingdings</vt:lpstr>
      <vt:lpstr>Custom</vt:lpstr>
      <vt:lpstr>Truri dhe palca kurrizore</vt:lpstr>
      <vt:lpstr>Kriteret e suksesit?</vt:lpstr>
      <vt:lpstr> Truri – qfarë është truri dhe si ndahet ai?…</vt:lpstr>
      <vt:lpstr>Pjesët e trurit dHe funksionet kryesore të tyre</vt:lpstr>
      <vt:lpstr>Truri Madh </vt:lpstr>
      <vt:lpstr>Truri mesëm dhe i ndermjetëm</vt:lpstr>
      <vt:lpstr>Truri i Vogël</vt:lpstr>
      <vt:lpstr>Palca E Zgjatur</vt:lpstr>
      <vt:lpstr>Qfarë bënë truri dhe si funksionon ai</vt:lpstr>
      <vt:lpstr>Truri dhe funksionimi i tij</vt:lpstr>
      <vt:lpstr>Si funksionon Truri?</vt:lpstr>
      <vt:lpstr>Hemisferat e trurit</vt:lpstr>
      <vt:lpstr>Hemisferat - e trurit</vt:lpstr>
      <vt:lpstr>FALEMINDERIT PËR VËMENDJEN!!!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 Sistemi nervor qëndror  - truri dhe palca kurrizore</dc:title>
  <dc:creator>Microsoft Office User</dc:creator>
  <cp:lastModifiedBy>Naser Guri</cp:lastModifiedBy>
  <cp:revision>15</cp:revision>
  <dcterms:created xsi:type="dcterms:W3CDTF">2024-02-22T13:15:49Z</dcterms:created>
  <dcterms:modified xsi:type="dcterms:W3CDTF">2024-02-23T18:56:48Z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